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77" r:id="rId3"/>
    <p:sldId id="278" r:id="rId4"/>
    <p:sldId id="257" r:id="rId5"/>
    <p:sldId id="258" r:id="rId6"/>
    <p:sldId id="259" r:id="rId7"/>
    <p:sldId id="263" r:id="rId8"/>
    <p:sldId id="260" r:id="rId9"/>
    <p:sldId id="261" r:id="rId10"/>
    <p:sldId id="271" r:id="rId11"/>
    <p:sldId id="272" r:id="rId12"/>
    <p:sldId id="262" r:id="rId13"/>
    <p:sldId id="273" r:id="rId14"/>
    <p:sldId id="275" r:id="rId15"/>
    <p:sldId id="274" r:id="rId16"/>
    <p:sldId id="276" r:id="rId17"/>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5BCE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p:scale>
          <a:sx n="66" d="100"/>
          <a:sy n="66" d="100"/>
        </p:scale>
        <p:origin x="2232" y="9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187C6F5-B4FF-CFC9-C210-84ACB92176E0}"/>
              </a:ext>
            </a:extLst>
          </p:cNvPr>
          <p:cNvSpPr>
            <a:spLocks noGrp="1"/>
          </p:cNvSpPr>
          <p:nvPr>
            <p:ph type="ctrTitle"/>
          </p:nvPr>
        </p:nvSpPr>
        <p:spPr>
          <a:xfrm>
            <a:off x="1524000" y="1122363"/>
            <a:ext cx="9144000" cy="2387600"/>
          </a:xfrm>
        </p:spPr>
        <p:txBody>
          <a:bodyPr anchor="b"/>
          <a:lstStyle>
            <a:lvl1pPr algn="ctr">
              <a:defRPr sz="6000"/>
            </a:lvl1pPr>
          </a:lstStyle>
          <a:p>
            <a:r>
              <a:rPr lang="zh-TW" altLang="en-US"/>
              <a:t>按一下以編輯母片標題樣式</a:t>
            </a:r>
          </a:p>
        </p:txBody>
      </p:sp>
      <p:sp>
        <p:nvSpPr>
          <p:cNvPr id="3" name="副標題 2">
            <a:extLst>
              <a:ext uri="{FF2B5EF4-FFF2-40B4-BE49-F238E27FC236}">
                <a16:creationId xmlns:a16="http://schemas.microsoft.com/office/drawing/2014/main" id="{FCA016D7-9EEE-7E5B-562A-C85A2017C36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p>
        </p:txBody>
      </p:sp>
      <p:sp>
        <p:nvSpPr>
          <p:cNvPr id="4" name="日期版面配置區 3">
            <a:extLst>
              <a:ext uri="{FF2B5EF4-FFF2-40B4-BE49-F238E27FC236}">
                <a16:creationId xmlns:a16="http://schemas.microsoft.com/office/drawing/2014/main" id="{6AFB60AC-9A44-211F-9ECA-EF73A4E4E1A8}"/>
              </a:ext>
            </a:extLst>
          </p:cNvPr>
          <p:cNvSpPr>
            <a:spLocks noGrp="1"/>
          </p:cNvSpPr>
          <p:nvPr>
            <p:ph type="dt" sz="half" idx="10"/>
          </p:nvPr>
        </p:nvSpPr>
        <p:spPr/>
        <p:txBody>
          <a:bodyPr/>
          <a:lstStyle/>
          <a:p>
            <a:fld id="{61D6084B-D7C1-4A75-A54E-69FE1DCAA181}" type="datetimeFigureOut">
              <a:rPr lang="zh-TW" altLang="en-US" smtClean="0"/>
              <a:t>2026/4/13</a:t>
            </a:fld>
            <a:endParaRPr lang="zh-TW" altLang="en-US"/>
          </a:p>
        </p:txBody>
      </p:sp>
      <p:sp>
        <p:nvSpPr>
          <p:cNvPr id="5" name="頁尾版面配置區 4">
            <a:extLst>
              <a:ext uri="{FF2B5EF4-FFF2-40B4-BE49-F238E27FC236}">
                <a16:creationId xmlns:a16="http://schemas.microsoft.com/office/drawing/2014/main" id="{4C69CEF7-1EBA-038E-F8C7-8E10838B1CA0}"/>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E796549D-0EE0-BC51-1D3D-77D7BAF62FFE}"/>
              </a:ext>
            </a:extLst>
          </p:cNvPr>
          <p:cNvSpPr>
            <a:spLocks noGrp="1"/>
          </p:cNvSpPr>
          <p:nvPr>
            <p:ph type="sldNum" sz="quarter" idx="12"/>
          </p:nvPr>
        </p:nvSpPr>
        <p:spPr/>
        <p:txBody>
          <a:bodyPr/>
          <a:lstStyle/>
          <a:p>
            <a:fld id="{031FEAE3-AD48-40AA-A306-55D7FCFCB647}" type="slidenum">
              <a:rPr lang="zh-TW" altLang="en-US" smtClean="0"/>
              <a:t>‹#›</a:t>
            </a:fld>
            <a:endParaRPr lang="zh-TW" altLang="en-US"/>
          </a:p>
        </p:txBody>
      </p:sp>
    </p:spTree>
    <p:extLst>
      <p:ext uri="{BB962C8B-B14F-4D97-AF65-F5344CB8AC3E}">
        <p14:creationId xmlns:p14="http://schemas.microsoft.com/office/powerpoint/2010/main" val="38832220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4846612-AC07-A9DB-1A19-BF4BA3372355}"/>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26C4A2DE-35F2-81F8-AD48-CE43CA5C8E76}"/>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F93CA22E-9175-172C-BADA-736F4FB3DF38}"/>
              </a:ext>
            </a:extLst>
          </p:cNvPr>
          <p:cNvSpPr>
            <a:spLocks noGrp="1"/>
          </p:cNvSpPr>
          <p:nvPr>
            <p:ph type="dt" sz="half" idx="10"/>
          </p:nvPr>
        </p:nvSpPr>
        <p:spPr/>
        <p:txBody>
          <a:bodyPr/>
          <a:lstStyle/>
          <a:p>
            <a:fld id="{61D6084B-D7C1-4A75-A54E-69FE1DCAA181}" type="datetimeFigureOut">
              <a:rPr lang="zh-TW" altLang="en-US" smtClean="0"/>
              <a:t>2026/4/13</a:t>
            </a:fld>
            <a:endParaRPr lang="zh-TW" altLang="en-US"/>
          </a:p>
        </p:txBody>
      </p:sp>
      <p:sp>
        <p:nvSpPr>
          <p:cNvPr id="5" name="頁尾版面配置區 4">
            <a:extLst>
              <a:ext uri="{FF2B5EF4-FFF2-40B4-BE49-F238E27FC236}">
                <a16:creationId xmlns:a16="http://schemas.microsoft.com/office/drawing/2014/main" id="{F50E08ED-0989-B64D-A523-56B6C2A85059}"/>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A2FB1F6D-D694-3345-B4FF-34D108050C70}"/>
              </a:ext>
            </a:extLst>
          </p:cNvPr>
          <p:cNvSpPr>
            <a:spLocks noGrp="1"/>
          </p:cNvSpPr>
          <p:nvPr>
            <p:ph type="sldNum" sz="quarter" idx="12"/>
          </p:nvPr>
        </p:nvSpPr>
        <p:spPr/>
        <p:txBody>
          <a:bodyPr/>
          <a:lstStyle/>
          <a:p>
            <a:fld id="{031FEAE3-AD48-40AA-A306-55D7FCFCB647}" type="slidenum">
              <a:rPr lang="zh-TW" altLang="en-US" smtClean="0"/>
              <a:t>‹#›</a:t>
            </a:fld>
            <a:endParaRPr lang="zh-TW" altLang="en-US"/>
          </a:p>
        </p:txBody>
      </p:sp>
    </p:spTree>
    <p:extLst>
      <p:ext uri="{BB962C8B-B14F-4D97-AF65-F5344CB8AC3E}">
        <p14:creationId xmlns:p14="http://schemas.microsoft.com/office/powerpoint/2010/main" val="12442263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1AC9350-D5DE-870A-3B01-B65D9BCC0F76}"/>
              </a:ext>
            </a:extLst>
          </p:cNvPr>
          <p:cNvSpPr>
            <a:spLocks noGrp="1"/>
          </p:cNvSpPr>
          <p:nvPr>
            <p:ph type="title"/>
          </p:nvPr>
        </p:nvSpPr>
        <p:spPr>
          <a:xfrm>
            <a:off x="831850" y="1709738"/>
            <a:ext cx="10515600" cy="2852737"/>
          </a:xfrm>
        </p:spPr>
        <p:txBody>
          <a:bodyPr anchor="b"/>
          <a:lstStyle>
            <a:lvl1pPr>
              <a:defRPr sz="6000"/>
            </a:lvl1pPr>
          </a:lstStyle>
          <a:p>
            <a:r>
              <a:rPr lang="zh-TW" altLang="en-US"/>
              <a:t>按一下以編輯母片標題樣式</a:t>
            </a:r>
          </a:p>
        </p:txBody>
      </p:sp>
      <p:sp>
        <p:nvSpPr>
          <p:cNvPr id="3" name="文字版面配置區 2">
            <a:extLst>
              <a:ext uri="{FF2B5EF4-FFF2-40B4-BE49-F238E27FC236}">
                <a16:creationId xmlns:a16="http://schemas.microsoft.com/office/drawing/2014/main" id="{BE9602BB-8C56-7CB7-1325-D8E6EC56A02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TW" altLang="en-US"/>
              <a:t>按一下以編輯母片文字樣式</a:t>
            </a:r>
          </a:p>
        </p:txBody>
      </p:sp>
      <p:sp>
        <p:nvSpPr>
          <p:cNvPr id="4" name="日期版面配置區 3">
            <a:extLst>
              <a:ext uri="{FF2B5EF4-FFF2-40B4-BE49-F238E27FC236}">
                <a16:creationId xmlns:a16="http://schemas.microsoft.com/office/drawing/2014/main" id="{892CF7E9-2410-6064-F1FA-18F55885230B}"/>
              </a:ext>
            </a:extLst>
          </p:cNvPr>
          <p:cNvSpPr>
            <a:spLocks noGrp="1"/>
          </p:cNvSpPr>
          <p:nvPr>
            <p:ph type="dt" sz="half" idx="10"/>
          </p:nvPr>
        </p:nvSpPr>
        <p:spPr/>
        <p:txBody>
          <a:bodyPr/>
          <a:lstStyle/>
          <a:p>
            <a:fld id="{61D6084B-D7C1-4A75-A54E-69FE1DCAA181}" type="datetimeFigureOut">
              <a:rPr lang="zh-TW" altLang="en-US" smtClean="0"/>
              <a:t>2026/4/13</a:t>
            </a:fld>
            <a:endParaRPr lang="zh-TW" altLang="en-US"/>
          </a:p>
        </p:txBody>
      </p:sp>
      <p:sp>
        <p:nvSpPr>
          <p:cNvPr id="5" name="頁尾版面配置區 4">
            <a:extLst>
              <a:ext uri="{FF2B5EF4-FFF2-40B4-BE49-F238E27FC236}">
                <a16:creationId xmlns:a16="http://schemas.microsoft.com/office/drawing/2014/main" id="{31B96D50-4D90-3656-4D39-A14B59C8D432}"/>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9408D885-FAB0-27E4-4C93-64B754E6B7F4}"/>
              </a:ext>
            </a:extLst>
          </p:cNvPr>
          <p:cNvSpPr>
            <a:spLocks noGrp="1"/>
          </p:cNvSpPr>
          <p:nvPr>
            <p:ph type="sldNum" sz="quarter" idx="12"/>
          </p:nvPr>
        </p:nvSpPr>
        <p:spPr/>
        <p:txBody>
          <a:bodyPr/>
          <a:lstStyle/>
          <a:p>
            <a:fld id="{031FEAE3-AD48-40AA-A306-55D7FCFCB647}" type="slidenum">
              <a:rPr lang="zh-TW" altLang="en-US" smtClean="0"/>
              <a:t>‹#›</a:t>
            </a:fld>
            <a:endParaRPr lang="zh-TW" altLang="en-US"/>
          </a:p>
        </p:txBody>
      </p:sp>
    </p:spTree>
    <p:extLst>
      <p:ext uri="{BB962C8B-B14F-4D97-AF65-F5344CB8AC3E}">
        <p14:creationId xmlns:p14="http://schemas.microsoft.com/office/powerpoint/2010/main" val="19473714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57FFDCF-F22A-7901-1F8C-80ECF1629C94}"/>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77B78637-8836-0F0F-DF75-2B7FAAE5A65A}"/>
              </a:ext>
            </a:extLst>
          </p:cNvPr>
          <p:cNvSpPr>
            <a:spLocks noGrp="1"/>
          </p:cNvSpPr>
          <p:nvPr>
            <p:ph sz="half" idx="1"/>
          </p:nvPr>
        </p:nvSpPr>
        <p:spPr>
          <a:xfrm>
            <a:off x="838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a:extLst>
              <a:ext uri="{FF2B5EF4-FFF2-40B4-BE49-F238E27FC236}">
                <a16:creationId xmlns:a16="http://schemas.microsoft.com/office/drawing/2014/main" id="{879B0E12-3313-AAC8-3F51-229F0A78EBAE}"/>
              </a:ext>
            </a:extLst>
          </p:cNvPr>
          <p:cNvSpPr>
            <a:spLocks noGrp="1"/>
          </p:cNvSpPr>
          <p:nvPr>
            <p:ph sz="half" idx="2"/>
          </p:nvPr>
        </p:nvSpPr>
        <p:spPr>
          <a:xfrm>
            <a:off x="6172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日期版面配置區 4">
            <a:extLst>
              <a:ext uri="{FF2B5EF4-FFF2-40B4-BE49-F238E27FC236}">
                <a16:creationId xmlns:a16="http://schemas.microsoft.com/office/drawing/2014/main" id="{578567E8-C8E2-1E3D-1769-4116DA3E7D24}"/>
              </a:ext>
            </a:extLst>
          </p:cNvPr>
          <p:cNvSpPr>
            <a:spLocks noGrp="1"/>
          </p:cNvSpPr>
          <p:nvPr>
            <p:ph type="dt" sz="half" idx="10"/>
          </p:nvPr>
        </p:nvSpPr>
        <p:spPr/>
        <p:txBody>
          <a:bodyPr/>
          <a:lstStyle/>
          <a:p>
            <a:fld id="{61D6084B-D7C1-4A75-A54E-69FE1DCAA181}" type="datetimeFigureOut">
              <a:rPr lang="zh-TW" altLang="en-US" smtClean="0"/>
              <a:t>2026/4/13</a:t>
            </a:fld>
            <a:endParaRPr lang="zh-TW" altLang="en-US"/>
          </a:p>
        </p:txBody>
      </p:sp>
      <p:sp>
        <p:nvSpPr>
          <p:cNvPr id="6" name="頁尾版面配置區 5">
            <a:extLst>
              <a:ext uri="{FF2B5EF4-FFF2-40B4-BE49-F238E27FC236}">
                <a16:creationId xmlns:a16="http://schemas.microsoft.com/office/drawing/2014/main" id="{7B6B7530-7196-86CF-CB40-E3A7FAE5A308}"/>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5E327169-C19A-BCEB-1A17-CFCC91757DD7}"/>
              </a:ext>
            </a:extLst>
          </p:cNvPr>
          <p:cNvSpPr>
            <a:spLocks noGrp="1"/>
          </p:cNvSpPr>
          <p:nvPr>
            <p:ph type="sldNum" sz="quarter" idx="12"/>
          </p:nvPr>
        </p:nvSpPr>
        <p:spPr/>
        <p:txBody>
          <a:bodyPr/>
          <a:lstStyle/>
          <a:p>
            <a:fld id="{031FEAE3-AD48-40AA-A306-55D7FCFCB647}" type="slidenum">
              <a:rPr lang="zh-TW" altLang="en-US" smtClean="0"/>
              <a:t>‹#›</a:t>
            </a:fld>
            <a:endParaRPr lang="zh-TW" altLang="en-US"/>
          </a:p>
        </p:txBody>
      </p:sp>
    </p:spTree>
    <p:extLst>
      <p:ext uri="{BB962C8B-B14F-4D97-AF65-F5344CB8AC3E}">
        <p14:creationId xmlns:p14="http://schemas.microsoft.com/office/powerpoint/2010/main" val="22611136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4E82C11-F907-A216-D163-C63F087F7D52}"/>
              </a:ext>
            </a:extLst>
          </p:cNvPr>
          <p:cNvSpPr>
            <a:spLocks noGrp="1"/>
          </p:cNvSpPr>
          <p:nvPr>
            <p:ph type="title"/>
          </p:nvPr>
        </p:nvSpPr>
        <p:spPr>
          <a:xfrm>
            <a:off x="839788" y="365125"/>
            <a:ext cx="10515600" cy="1325563"/>
          </a:xfrm>
        </p:spPr>
        <p:txBody>
          <a:bodyPr/>
          <a:lstStyle/>
          <a:p>
            <a:r>
              <a:rPr lang="zh-TW" altLang="en-US"/>
              <a:t>按一下以編輯母片標題樣式</a:t>
            </a:r>
          </a:p>
        </p:txBody>
      </p:sp>
      <p:sp>
        <p:nvSpPr>
          <p:cNvPr id="3" name="文字版面配置區 2">
            <a:extLst>
              <a:ext uri="{FF2B5EF4-FFF2-40B4-BE49-F238E27FC236}">
                <a16:creationId xmlns:a16="http://schemas.microsoft.com/office/drawing/2014/main" id="{93581650-7342-B3E5-0166-7FE10C06FAE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a:extLst>
              <a:ext uri="{FF2B5EF4-FFF2-40B4-BE49-F238E27FC236}">
                <a16:creationId xmlns:a16="http://schemas.microsoft.com/office/drawing/2014/main" id="{4E22D9B0-12C6-D169-FCFD-9107FF1DFCB3}"/>
              </a:ext>
            </a:extLst>
          </p:cNvPr>
          <p:cNvSpPr>
            <a:spLocks noGrp="1"/>
          </p:cNvSpPr>
          <p:nvPr>
            <p:ph sz="half" idx="2"/>
          </p:nvPr>
        </p:nvSpPr>
        <p:spPr>
          <a:xfrm>
            <a:off x="839788" y="2505075"/>
            <a:ext cx="5157787"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a:extLst>
              <a:ext uri="{FF2B5EF4-FFF2-40B4-BE49-F238E27FC236}">
                <a16:creationId xmlns:a16="http://schemas.microsoft.com/office/drawing/2014/main" id="{857EC746-FA39-4600-FFD0-EB3E1DF87BD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a:extLst>
              <a:ext uri="{FF2B5EF4-FFF2-40B4-BE49-F238E27FC236}">
                <a16:creationId xmlns:a16="http://schemas.microsoft.com/office/drawing/2014/main" id="{5EC4EAF4-AA07-AA1D-D90F-B877F13390B6}"/>
              </a:ext>
            </a:extLst>
          </p:cNvPr>
          <p:cNvSpPr>
            <a:spLocks noGrp="1"/>
          </p:cNvSpPr>
          <p:nvPr>
            <p:ph sz="quarter" idx="4"/>
          </p:nvPr>
        </p:nvSpPr>
        <p:spPr>
          <a:xfrm>
            <a:off x="6172200" y="2505075"/>
            <a:ext cx="5183188"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7" name="日期版面配置區 6">
            <a:extLst>
              <a:ext uri="{FF2B5EF4-FFF2-40B4-BE49-F238E27FC236}">
                <a16:creationId xmlns:a16="http://schemas.microsoft.com/office/drawing/2014/main" id="{20134E9F-1D65-9B32-CBFD-CE1C65EAD716}"/>
              </a:ext>
            </a:extLst>
          </p:cNvPr>
          <p:cNvSpPr>
            <a:spLocks noGrp="1"/>
          </p:cNvSpPr>
          <p:nvPr>
            <p:ph type="dt" sz="half" idx="10"/>
          </p:nvPr>
        </p:nvSpPr>
        <p:spPr/>
        <p:txBody>
          <a:bodyPr/>
          <a:lstStyle/>
          <a:p>
            <a:fld id="{61D6084B-D7C1-4A75-A54E-69FE1DCAA181}" type="datetimeFigureOut">
              <a:rPr lang="zh-TW" altLang="en-US" smtClean="0"/>
              <a:t>2026/4/13</a:t>
            </a:fld>
            <a:endParaRPr lang="zh-TW" altLang="en-US"/>
          </a:p>
        </p:txBody>
      </p:sp>
      <p:sp>
        <p:nvSpPr>
          <p:cNvPr id="8" name="頁尾版面配置區 7">
            <a:extLst>
              <a:ext uri="{FF2B5EF4-FFF2-40B4-BE49-F238E27FC236}">
                <a16:creationId xmlns:a16="http://schemas.microsoft.com/office/drawing/2014/main" id="{BBD1BDFB-6376-4498-F894-E707D265998A}"/>
              </a:ext>
            </a:extLst>
          </p:cNvPr>
          <p:cNvSpPr>
            <a:spLocks noGrp="1"/>
          </p:cNvSpPr>
          <p:nvPr>
            <p:ph type="ftr" sz="quarter" idx="11"/>
          </p:nvPr>
        </p:nvSpPr>
        <p:spPr/>
        <p:txBody>
          <a:bodyPr/>
          <a:lstStyle/>
          <a:p>
            <a:endParaRPr lang="zh-TW" altLang="en-US"/>
          </a:p>
        </p:txBody>
      </p:sp>
      <p:sp>
        <p:nvSpPr>
          <p:cNvPr id="9" name="投影片編號版面配置區 8">
            <a:extLst>
              <a:ext uri="{FF2B5EF4-FFF2-40B4-BE49-F238E27FC236}">
                <a16:creationId xmlns:a16="http://schemas.microsoft.com/office/drawing/2014/main" id="{9457760E-47A3-46FA-6596-1D29F60A2C51}"/>
              </a:ext>
            </a:extLst>
          </p:cNvPr>
          <p:cNvSpPr>
            <a:spLocks noGrp="1"/>
          </p:cNvSpPr>
          <p:nvPr>
            <p:ph type="sldNum" sz="quarter" idx="12"/>
          </p:nvPr>
        </p:nvSpPr>
        <p:spPr/>
        <p:txBody>
          <a:bodyPr/>
          <a:lstStyle/>
          <a:p>
            <a:fld id="{031FEAE3-AD48-40AA-A306-55D7FCFCB647}" type="slidenum">
              <a:rPr lang="zh-TW" altLang="en-US" smtClean="0"/>
              <a:t>‹#›</a:t>
            </a:fld>
            <a:endParaRPr lang="zh-TW" altLang="en-US"/>
          </a:p>
        </p:txBody>
      </p:sp>
    </p:spTree>
    <p:extLst>
      <p:ext uri="{BB962C8B-B14F-4D97-AF65-F5344CB8AC3E}">
        <p14:creationId xmlns:p14="http://schemas.microsoft.com/office/powerpoint/2010/main" val="23079292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40F2A4C-22AC-B434-1A7A-24D95DCD96B8}"/>
              </a:ext>
            </a:extLst>
          </p:cNvPr>
          <p:cNvSpPr>
            <a:spLocks noGrp="1"/>
          </p:cNvSpPr>
          <p:nvPr>
            <p:ph type="title"/>
          </p:nvPr>
        </p:nvSpPr>
        <p:spPr/>
        <p:txBody>
          <a:bodyPr/>
          <a:lstStyle/>
          <a:p>
            <a:r>
              <a:rPr lang="zh-TW" altLang="en-US"/>
              <a:t>按一下以編輯母片標題樣式</a:t>
            </a:r>
          </a:p>
        </p:txBody>
      </p:sp>
      <p:sp>
        <p:nvSpPr>
          <p:cNvPr id="3" name="日期版面配置區 2">
            <a:extLst>
              <a:ext uri="{FF2B5EF4-FFF2-40B4-BE49-F238E27FC236}">
                <a16:creationId xmlns:a16="http://schemas.microsoft.com/office/drawing/2014/main" id="{06F7E731-672F-143E-2689-717267E829F7}"/>
              </a:ext>
            </a:extLst>
          </p:cNvPr>
          <p:cNvSpPr>
            <a:spLocks noGrp="1"/>
          </p:cNvSpPr>
          <p:nvPr>
            <p:ph type="dt" sz="half" idx="10"/>
          </p:nvPr>
        </p:nvSpPr>
        <p:spPr/>
        <p:txBody>
          <a:bodyPr/>
          <a:lstStyle/>
          <a:p>
            <a:fld id="{61D6084B-D7C1-4A75-A54E-69FE1DCAA181}" type="datetimeFigureOut">
              <a:rPr lang="zh-TW" altLang="en-US" smtClean="0"/>
              <a:t>2026/4/13</a:t>
            </a:fld>
            <a:endParaRPr lang="zh-TW" altLang="en-US"/>
          </a:p>
        </p:txBody>
      </p:sp>
      <p:sp>
        <p:nvSpPr>
          <p:cNvPr id="4" name="頁尾版面配置區 3">
            <a:extLst>
              <a:ext uri="{FF2B5EF4-FFF2-40B4-BE49-F238E27FC236}">
                <a16:creationId xmlns:a16="http://schemas.microsoft.com/office/drawing/2014/main" id="{6706A1C7-89B9-22E3-CEAA-4950FD083913}"/>
              </a:ext>
            </a:extLst>
          </p:cNvPr>
          <p:cNvSpPr>
            <a:spLocks noGrp="1"/>
          </p:cNvSpPr>
          <p:nvPr>
            <p:ph type="ftr" sz="quarter" idx="11"/>
          </p:nvPr>
        </p:nvSpPr>
        <p:spPr/>
        <p:txBody>
          <a:bodyPr/>
          <a:lstStyle/>
          <a:p>
            <a:endParaRPr lang="zh-TW" altLang="en-US"/>
          </a:p>
        </p:txBody>
      </p:sp>
      <p:sp>
        <p:nvSpPr>
          <p:cNvPr id="5" name="投影片編號版面配置區 4">
            <a:extLst>
              <a:ext uri="{FF2B5EF4-FFF2-40B4-BE49-F238E27FC236}">
                <a16:creationId xmlns:a16="http://schemas.microsoft.com/office/drawing/2014/main" id="{501B0C6C-BDE5-1C53-2ECC-4AA7FB1E7CE1}"/>
              </a:ext>
            </a:extLst>
          </p:cNvPr>
          <p:cNvSpPr>
            <a:spLocks noGrp="1"/>
          </p:cNvSpPr>
          <p:nvPr>
            <p:ph type="sldNum" sz="quarter" idx="12"/>
          </p:nvPr>
        </p:nvSpPr>
        <p:spPr/>
        <p:txBody>
          <a:bodyPr/>
          <a:lstStyle/>
          <a:p>
            <a:fld id="{031FEAE3-AD48-40AA-A306-55D7FCFCB647}" type="slidenum">
              <a:rPr lang="zh-TW" altLang="en-US" smtClean="0"/>
              <a:t>‹#›</a:t>
            </a:fld>
            <a:endParaRPr lang="zh-TW" altLang="en-US"/>
          </a:p>
        </p:txBody>
      </p:sp>
    </p:spTree>
    <p:extLst>
      <p:ext uri="{BB962C8B-B14F-4D97-AF65-F5344CB8AC3E}">
        <p14:creationId xmlns:p14="http://schemas.microsoft.com/office/powerpoint/2010/main" val="26157275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a:extLst>
              <a:ext uri="{FF2B5EF4-FFF2-40B4-BE49-F238E27FC236}">
                <a16:creationId xmlns:a16="http://schemas.microsoft.com/office/drawing/2014/main" id="{7A4CA041-EBA6-84F6-0E2F-E1E5C258A8C7}"/>
              </a:ext>
            </a:extLst>
          </p:cNvPr>
          <p:cNvSpPr>
            <a:spLocks noGrp="1"/>
          </p:cNvSpPr>
          <p:nvPr>
            <p:ph type="dt" sz="half" idx="10"/>
          </p:nvPr>
        </p:nvSpPr>
        <p:spPr/>
        <p:txBody>
          <a:bodyPr/>
          <a:lstStyle/>
          <a:p>
            <a:fld id="{61D6084B-D7C1-4A75-A54E-69FE1DCAA181}" type="datetimeFigureOut">
              <a:rPr lang="zh-TW" altLang="en-US" smtClean="0"/>
              <a:t>2026/4/13</a:t>
            </a:fld>
            <a:endParaRPr lang="zh-TW" altLang="en-US"/>
          </a:p>
        </p:txBody>
      </p:sp>
      <p:sp>
        <p:nvSpPr>
          <p:cNvPr id="3" name="頁尾版面配置區 2">
            <a:extLst>
              <a:ext uri="{FF2B5EF4-FFF2-40B4-BE49-F238E27FC236}">
                <a16:creationId xmlns:a16="http://schemas.microsoft.com/office/drawing/2014/main" id="{6C9DD8A2-9734-2F3E-74CB-3FB7DC3186BE}"/>
              </a:ext>
            </a:extLst>
          </p:cNvPr>
          <p:cNvSpPr>
            <a:spLocks noGrp="1"/>
          </p:cNvSpPr>
          <p:nvPr>
            <p:ph type="ftr" sz="quarter" idx="11"/>
          </p:nvPr>
        </p:nvSpPr>
        <p:spPr/>
        <p:txBody>
          <a:bodyPr/>
          <a:lstStyle/>
          <a:p>
            <a:endParaRPr lang="zh-TW" altLang="en-US"/>
          </a:p>
        </p:txBody>
      </p:sp>
      <p:sp>
        <p:nvSpPr>
          <p:cNvPr id="4" name="投影片編號版面配置區 3">
            <a:extLst>
              <a:ext uri="{FF2B5EF4-FFF2-40B4-BE49-F238E27FC236}">
                <a16:creationId xmlns:a16="http://schemas.microsoft.com/office/drawing/2014/main" id="{11F2EE56-587E-927D-63E5-66E0AD5A9CC9}"/>
              </a:ext>
            </a:extLst>
          </p:cNvPr>
          <p:cNvSpPr>
            <a:spLocks noGrp="1"/>
          </p:cNvSpPr>
          <p:nvPr>
            <p:ph type="sldNum" sz="quarter" idx="12"/>
          </p:nvPr>
        </p:nvSpPr>
        <p:spPr/>
        <p:txBody>
          <a:bodyPr/>
          <a:lstStyle/>
          <a:p>
            <a:fld id="{031FEAE3-AD48-40AA-A306-55D7FCFCB647}" type="slidenum">
              <a:rPr lang="zh-TW" altLang="en-US" smtClean="0"/>
              <a:t>‹#›</a:t>
            </a:fld>
            <a:endParaRPr lang="zh-TW" altLang="en-US"/>
          </a:p>
        </p:txBody>
      </p:sp>
    </p:spTree>
    <p:extLst>
      <p:ext uri="{BB962C8B-B14F-4D97-AF65-F5344CB8AC3E}">
        <p14:creationId xmlns:p14="http://schemas.microsoft.com/office/powerpoint/2010/main" val="13482262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輔助字幕的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06EA410-7CAE-E2DB-C4BD-2449D804E5E6}"/>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內容版面配置區 2">
            <a:extLst>
              <a:ext uri="{FF2B5EF4-FFF2-40B4-BE49-F238E27FC236}">
                <a16:creationId xmlns:a16="http://schemas.microsoft.com/office/drawing/2014/main" id="{86F50895-EEBB-2EB1-B06D-38679587687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a:extLst>
              <a:ext uri="{FF2B5EF4-FFF2-40B4-BE49-F238E27FC236}">
                <a16:creationId xmlns:a16="http://schemas.microsoft.com/office/drawing/2014/main" id="{0FB262F4-E8A1-50D4-F49A-C083E30CB5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6BFB63C7-4221-26F4-59A2-2F666E70FEA0}"/>
              </a:ext>
            </a:extLst>
          </p:cNvPr>
          <p:cNvSpPr>
            <a:spLocks noGrp="1"/>
          </p:cNvSpPr>
          <p:nvPr>
            <p:ph type="dt" sz="half" idx="10"/>
          </p:nvPr>
        </p:nvSpPr>
        <p:spPr/>
        <p:txBody>
          <a:bodyPr/>
          <a:lstStyle/>
          <a:p>
            <a:fld id="{61D6084B-D7C1-4A75-A54E-69FE1DCAA181}" type="datetimeFigureOut">
              <a:rPr lang="zh-TW" altLang="en-US" smtClean="0"/>
              <a:t>2026/4/13</a:t>
            </a:fld>
            <a:endParaRPr lang="zh-TW" altLang="en-US"/>
          </a:p>
        </p:txBody>
      </p:sp>
      <p:sp>
        <p:nvSpPr>
          <p:cNvPr id="6" name="頁尾版面配置區 5">
            <a:extLst>
              <a:ext uri="{FF2B5EF4-FFF2-40B4-BE49-F238E27FC236}">
                <a16:creationId xmlns:a16="http://schemas.microsoft.com/office/drawing/2014/main" id="{7117A72F-98BC-FD81-61E4-8338B133568C}"/>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96673ED2-AB56-EA57-70AD-E81E59BD8FDF}"/>
              </a:ext>
            </a:extLst>
          </p:cNvPr>
          <p:cNvSpPr>
            <a:spLocks noGrp="1"/>
          </p:cNvSpPr>
          <p:nvPr>
            <p:ph type="sldNum" sz="quarter" idx="12"/>
          </p:nvPr>
        </p:nvSpPr>
        <p:spPr/>
        <p:txBody>
          <a:bodyPr/>
          <a:lstStyle/>
          <a:p>
            <a:fld id="{031FEAE3-AD48-40AA-A306-55D7FCFCB647}" type="slidenum">
              <a:rPr lang="zh-TW" altLang="en-US" smtClean="0"/>
              <a:t>‹#›</a:t>
            </a:fld>
            <a:endParaRPr lang="zh-TW" altLang="en-US"/>
          </a:p>
        </p:txBody>
      </p:sp>
    </p:spTree>
    <p:extLst>
      <p:ext uri="{BB962C8B-B14F-4D97-AF65-F5344CB8AC3E}">
        <p14:creationId xmlns:p14="http://schemas.microsoft.com/office/powerpoint/2010/main" val="33032928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輔助字幕的圖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0349697-0CCE-3866-FEE8-AAA67CBAFA01}"/>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圖片版面配置區 2">
            <a:extLst>
              <a:ext uri="{FF2B5EF4-FFF2-40B4-BE49-F238E27FC236}">
                <a16:creationId xmlns:a16="http://schemas.microsoft.com/office/drawing/2014/main" id="{819B3C10-E127-C0D2-C39C-F9A14DDB7C1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a:extLst>
              <a:ext uri="{FF2B5EF4-FFF2-40B4-BE49-F238E27FC236}">
                <a16:creationId xmlns:a16="http://schemas.microsoft.com/office/drawing/2014/main" id="{DE71202A-493D-9F94-1737-F7A856A57B8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3701CBA7-9C02-99FF-AF79-E9BFE7881460}"/>
              </a:ext>
            </a:extLst>
          </p:cNvPr>
          <p:cNvSpPr>
            <a:spLocks noGrp="1"/>
          </p:cNvSpPr>
          <p:nvPr>
            <p:ph type="dt" sz="half" idx="10"/>
          </p:nvPr>
        </p:nvSpPr>
        <p:spPr/>
        <p:txBody>
          <a:bodyPr/>
          <a:lstStyle/>
          <a:p>
            <a:fld id="{61D6084B-D7C1-4A75-A54E-69FE1DCAA181}" type="datetimeFigureOut">
              <a:rPr lang="zh-TW" altLang="en-US" smtClean="0"/>
              <a:t>2026/4/13</a:t>
            </a:fld>
            <a:endParaRPr lang="zh-TW" altLang="en-US"/>
          </a:p>
        </p:txBody>
      </p:sp>
      <p:sp>
        <p:nvSpPr>
          <p:cNvPr id="6" name="頁尾版面配置區 5">
            <a:extLst>
              <a:ext uri="{FF2B5EF4-FFF2-40B4-BE49-F238E27FC236}">
                <a16:creationId xmlns:a16="http://schemas.microsoft.com/office/drawing/2014/main" id="{C1C28D34-2E07-77DD-A450-7DD2D838E8E7}"/>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9D21F204-D5A1-5396-B353-5C87A7A6C85C}"/>
              </a:ext>
            </a:extLst>
          </p:cNvPr>
          <p:cNvSpPr>
            <a:spLocks noGrp="1"/>
          </p:cNvSpPr>
          <p:nvPr>
            <p:ph type="sldNum" sz="quarter" idx="12"/>
          </p:nvPr>
        </p:nvSpPr>
        <p:spPr/>
        <p:txBody>
          <a:bodyPr/>
          <a:lstStyle/>
          <a:p>
            <a:fld id="{031FEAE3-AD48-40AA-A306-55D7FCFCB647}" type="slidenum">
              <a:rPr lang="zh-TW" altLang="en-US" smtClean="0"/>
              <a:t>‹#›</a:t>
            </a:fld>
            <a:endParaRPr lang="zh-TW" altLang="en-US"/>
          </a:p>
        </p:txBody>
      </p:sp>
    </p:spTree>
    <p:extLst>
      <p:ext uri="{BB962C8B-B14F-4D97-AF65-F5344CB8AC3E}">
        <p14:creationId xmlns:p14="http://schemas.microsoft.com/office/powerpoint/2010/main" val="34915692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6088A10-9A4E-AB29-FCF9-8937A9426029}"/>
              </a:ext>
            </a:extLst>
          </p:cNvPr>
          <p:cNvSpPr>
            <a:spLocks noGrp="1"/>
          </p:cNvSpPr>
          <p:nvPr>
            <p:ph type="title"/>
          </p:nvPr>
        </p:nvSpPr>
        <p:spPr/>
        <p:txBody>
          <a:bodyPr/>
          <a:lstStyle/>
          <a:p>
            <a:r>
              <a:rPr lang="zh-TW" altLang="en-US"/>
              <a:t>按一下以編輯母片標題樣式</a:t>
            </a:r>
          </a:p>
        </p:txBody>
      </p:sp>
      <p:sp>
        <p:nvSpPr>
          <p:cNvPr id="3" name="直排文字版面配置區 2">
            <a:extLst>
              <a:ext uri="{FF2B5EF4-FFF2-40B4-BE49-F238E27FC236}">
                <a16:creationId xmlns:a16="http://schemas.microsoft.com/office/drawing/2014/main" id="{ABC9C8AC-4286-1BCC-7CDA-9DF5D00F12DB}"/>
              </a:ext>
            </a:extLst>
          </p:cNvPr>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96C85ED4-A684-B6F0-B36D-8D8AB72A8B4A}"/>
              </a:ext>
            </a:extLst>
          </p:cNvPr>
          <p:cNvSpPr>
            <a:spLocks noGrp="1"/>
          </p:cNvSpPr>
          <p:nvPr>
            <p:ph type="dt" sz="half" idx="10"/>
          </p:nvPr>
        </p:nvSpPr>
        <p:spPr/>
        <p:txBody>
          <a:bodyPr/>
          <a:lstStyle/>
          <a:p>
            <a:fld id="{61D6084B-D7C1-4A75-A54E-69FE1DCAA181}" type="datetimeFigureOut">
              <a:rPr lang="zh-TW" altLang="en-US" smtClean="0"/>
              <a:t>2026/4/13</a:t>
            </a:fld>
            <a:endParaRPr lang="zh-TW" altLang="en-US"/>
          </a:p>
        </p:txBody>
      </p:sp>
      <p:sp>
        <p:nvSpPr>
          <p:cNvPr id="5" name="頁尾版面配置區 4">
            <a:extLst>
              <a:ext uri="{FF2B5EF4-FFF2-40B4-BE49-F238E27FC236}">
                <a16:creationId xmlns:a16="http://schemas.microsoft.com/office/drawing/2014/main" id="{1010080C-0EF1-6EB6-1BF2-8650C6EA9E92}"/>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957171E3-8015-89A5-219A-80C63D6B929B}"/>
              </a:ext>
            </a:extLst>
          </p:cNvPr>
          <p:cNvSpPr>
            <a:spLocks noGrp="1"/>
          </p:cNvSpPr>
          <p:nvPr>
            <p:ph type="sldNum" sz="quarter" idx="12"/>
          </p:nvPr>
        </p:nvSpPr>
        <p:spPr/>
        <p:txBody>
          <a:bodyPr/>
          <a:lstStyle/>
          <a:p>
            <a:fld id="{031FEAE3-AD48-40AA-A306-55D7FCFCB647}" type="slidenum">
              <a:rPr lang="zh-TW" altLang="en-US" smtClean="0"/>
              <a:t>‹#›</a:t>
            </a:fld>
            <a:endParaRPr lang="zh-TW" altLang="en-US"/>
          </a:p>
        </p:txBody>
      </p:sp>
    </p:spTree>
    <p:extLst>
      <p:ext uri="{BB962C8B-B14F-4D97-AF65-F5344CB8AC3E}">
        <p14:creationId xmlns:p14="http://schemas.microsoft.com/office/powerpoint/2010/main" val="30021945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a:extLst>
              <a:ext uri="{FF2B5EF4-FFF2-40B4-BE49-F238E27FC236}">
                <a16:creationId xmlns:a16="http://schemas.microsoft.com/office/drawing/2014/main" id="{58DDD1E8-D410-F2E0-2DA3-C0CF8B4745A9}"/>
              </a:ext>
            </a:extLst>
          </p:cNvPr>
          <p:cNvSpPr>
            <a:spLocks noGrp="1"/>
          </p:cNvSpPr>
          <p:nvPr>
            <p:ph type="title" orient="vert"/>
          </p:nvPr>
        </p:nvSpPr>
        <p:spPr>
          <a:xfrm>
            <a:off x="8724900" y="365125"/>
            <a:ext cx="2628900" cy="5811838"/>
          </a:xfrm>
        </p:spPr>
        <p:txBody>
          <a:bodyPr vert="eaVert"/>
          <a:lstStyle/>
          <a:p>
            <a:r>
              <a:rPr lang="zh-TW" altLang="en-US"/>
              <a:t>按一下以編輯母片標題樣式</a:t>
            </a:r>
          </a:p>
        </p:txBody>
      </p:sp>
      <p:sp>
        <p:nvSpPr>
          <p:cNvPr id="3" name="直排文字版面配置區 2">
            <a:extLst>
              <a:ext uri="{FF2B5EF4-FFF2-40B4-BE49-F238E27FC236}">
                <a16:creationId xmlns:a16="http://schemas.microsoft.com/office/drawing/2014/main" id="{2AA190F3-0D2F-FADB-5EC5-84399BFFE5D0}"/>
              </a:ext>
            </a:extLst>
          </p:cNvPr>
          <p:cNvSpPr>
            <a:spLocks noGrp="1"/>
          </p:cNvSpPr>
          <p:nvPr>
            <p:ph type="body" orient="vert" idx="1"/>
          </p:nvPr>
        </p:nvSpPr>
        <p:spPr>
          <a:xfrm>
            <a:off x="838200" y="365125"/>
            <a:ext cx="7734300" cy="5811838"/>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5D365F11-E096-F046-1486-702CFDB900BE}"/>
              </a:ext>
            </a:extLst>
          </p:cNvPr>
          <p:cNvSpPr>
            <a:spLocks noGrp="1"/>
          </p:cNvSpPr>
          <p:nvPr>
            <p:ph type="dt" sz="half" idx="10"/>
          </p:nvPr>
        </p:nvSpPr>
        <p:spPr/>
        <p:txBody>
          <a:bodyPr/>
          <a:lstStyle/>
          <a:p>
            <a:fld id="{61D6084B-D7C1-4A75-A54E-69FE1DCAA181}" type="datetimeFigureOut">
              <a:rPr lang="zh-TW" altLang="en-US" smtClean="0"/>
              <a:t>2026/4/13</a:t>
            </a:fld>
            <a:endParaRPr lang="zh-TW" altLang="en-US"/>
          </a:p>
        </p:txBody>
      </p:sp>
      <p:sp>
        <p:nvSpPr>
          <p:cNvPr id="5" name="頁尾版面配置區 4">
            <a:extLst>
              <a:ext uri="{FF2B5EF4-FFF2-40B4-BE49-F238E27FC236}">
                <a16:creationId xmlns:a16="http://schemas.microsoft.com/office/drawing/2014/main" id="{9C95BE5D-E2B5-3813-BDDA-EF5A011621B1}"/>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85F10186-D8EF-D0BC-BCBA-F64C1ED258AE}"/>
              </a:ext>
            </a:extLst>
          </p:cNvPr>
          <p:cNvSpPr>
            <a:spLocks noGrp="1"/>
          </p:cNvSpPr>
          <p:nvPr>
            <p:ph type="sldNum" sz="quarter" idx="12"/>
          </p:nvPr>
        </p:nvSpPr>
        <p:spPr/>
        <p:txBody>
          <a:bodyPr/>
          <a:lstStyle/>
          <a:p>
            <a:fld id="{031FEAE3-AD48-40AA-A306-55D7FCFCB647}" type="slidenum">
              <a:rPr lang="zh-TW" altLang="en-US" smtClean="0"/>
              <a:t>‹#›</a:t>
            </a:fld>
            <a:endParaRPr lang="zh-TW" altLang="en-US"/>
          </a:p>
        </p:txBody>
      </p:sp>
    </p:spTree>
    <p:extLst>
      <p:ext uri="{BB962C8B-B14F-4D97-AF65-F5344CB8AC3E}">
        <p14:creationId xmlns:p14="http://schemas.microsoft.com/office/powerpoint/2010/main" val="187350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a:extLst>
              <a:ext uri="{FF2B5EF4-FFF2-40B4-BE49-F238E27FC236}">
                <a16:creationId xmlns:a16="http://schemas.microsoft.com/office/drawing/2014/main" id="{C52FFF4F-5CBE-5E16-AAF0-75776FB7742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a:t>按一下以編輯母片標題樣式</a:t>
            </a:r>
          </a:p>
        </p:txBody>
      </p:sp>
      <p:sp>
        <p:nvSpPr>
          <p:cNvPr id="3" name="文字版面配置區 2">
            <a:extLst>
              <a:ext uri="{FF2B5EF4-FFF2-40B4-BE49-F238E27FC236}">
                <a16:creationId xmlns:a16="http://schemas.microsoft.com/office/drawing/2014/main" id="{D50CB59A-E241-B624-0FFD-964E85F7EF7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31CBFFCF-E58F-574D-1826-EC5A0C25D5E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1D6084B-D7C1-4A75-A54E-69FE1DCAA181}" type="datetimeFigureOut">
              <a:rPr lang="zh-TW" altLang="en-US" smtClean="0"/>
              <a:t>2026/4/13</a:t>
            </a:fld>
            <a:endParaRPr lang="zh-TW" altLang="en-US"/>
          </a:p>
        </p:txBody>
      </p:sp>
      <p:sp>
        <p:nvSpPr>
          <p:cNvPr id="5" name="頁尾版面配置區 4">
            <a:extLst>
              <a:ext uri="{FF2B5EF4-FFF2-40B4-BE49-F238E27FC236}">
                <a16:creationId xmlns:a16="http://schemas.microsoft.com/office/drawing/2014/main" id="{6322574E-438C-5652-3376-D26BD82D7FB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TW" altLang="en-US"/>
          </a:p>
        </p:txBody>
      </p:sp>
      <p:sp>
        <p:nvSpPr>
          <p:cNvPr id="6" name="投影片編號版面配置區 5">
            <a:extLst>
              <a:ext uri="{FF2B5EF4-FFF2-40B4-BE49-F238E27FC236}">
                <a16:creationId xmlns:a16="http://schemas.microsoft.com/office/drawing/2014/main" id="{2923A96E-4EFF-9077-FC0E-D716F3085F4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31FEAE3-AD48-40AA-A306-55D7FCFCB647}" type="slidenum">
              <a:rPr lang="zh-TW" altLang="en-US" smtClean="0"/>
              <a:t>‹#›</a:t>
            </a:fld>
            <a:endParaRPr lang="zh-TW" altLang="en-US"/>
          </a:p>
        </p:txBody>
      </p:sp>
    </p:spTree>
    <p:extLst>
      <p:ext uri="{BB962C8B-B14F-4D97-AF65-F5344CB8AC3E}">
        <p14:creationId xmlns:p14="http://schemas.microsoft.com/office/powerpoint/2010/main" val="5404000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github.com/alenzenx/smart-ordering-system"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alenzenx/smart-ordering-system.git" TargetMode="External"/><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localhost:5173/" TargetMode="External"/><Relationship Id="rId2" Type="http://schemas.openxmlformats.org/officeDocument/2006/relationships/hyperlink" Target="http://localhost:5174/" TargetMode="External"/><Relationship Id="rId1" Type="http://schemas.openxmlformats.org/officeDocument/2006/relationships/slideLayout" Target="../slideLayouts/slideLayout7.xml"/><Relationship Id="rId5" Type="http://schemas.openxmlformats.org/officeDocument/2006/relationships/hyperlink" Target="http://localhost:8080/" TargetMode="External"/><Relationship Id="rId4" Type="http://schemas.openxmlformats.org/officeDocument/2006/relationships/hyperlink" Target="http://localhost:8000/"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49BEEB9-AD5B-22D1-8BE4-FA7330BC48A6}"/>
              </a:ext>
            </a:extLst>
          </p:cNvPr>
          <p:cNvSpPr>
            <a:spLocks noGrp="1"/>
          </p:cNvSpPr>
          <p:nvPr>
            <p:ph type="ctrTitle"/>
          </p:nvPr>
        </p:nvSpPr>
        <p:spPr/>
        <p:txBody>
          <a:bodyPr/>
          <a:lstStyle/>
          <a:p>
            <a:r>
              <a:rPr lang="zh-TW" altLang="en-US" b="1" i="0" dirty="0">
                <a:solidFill>
                  <a:srgbClr val="1F2328"/>
                </a:solidFill>
                <a:effectLst/>
                <a:latin typeface="Mona Sans VF"/>
              </a:rPr>
              <a:t>智慧點</a:t>
            </a:r>
            <a:r>
              <a:rPr lang="zh-TW" altLang="en-US" b="1" i="0">
                <a:solidFill>
                  <a:srgbClr val="1F2328"/>
                </a:solidFill>
                <a:effectLst/>
                <a:latin typeface="Mona Sans VF"/>
              </a:rPr>
              <a:t>餐系統</a:t>
            </a:r>
            <a:endParaRPr lang="zh-TW" altLang="en-US" dirty="0"/>
          </a:p>
        </p:txBody>
      </p:sp>
      <p:sp>
        <p:nvSpPr>
          <p:cNvPr id="3" name="副標題 2">
            <a:extLst>
              <a:ext uri="{FF2B5EF4-FFF2-40B4-BE49-F238E27FC236}">
                <a16:creationId xmlns:a16="http://schemas.microsoft.com/office/drawing/2014/main" id="{1F680ACA-5471-F64C-6A42-435C53A46846}"/>
              </a:ext>
            </a:extLst>
          </p:cNvPr>
          <p:cNvSpPr>
            <a:spLocks noGrp="1"/>
          </p:cNvSpPr>
          <p:nvPr>
            <p:ph type="subTitle" idx="1"/>
          </p:nvPr>
        </p:nvSpPr>
        <p:spPr/>
        <p:txBody>
          <a:bodyPr/>
          <a:lstStyle/>
          <a:p>
            <a:r>
              <a:rPr lang="zh-TW" altLang="en-US"/>
              <a:t>安裝使用與 </a:t>
            </a:r>
            <a:r>
              <a:rPr lang="en-US" altLang="zh-TW"/>
              <a:t>vibe coding</a:t>
            </a:r>
            <a:r>
              <a:rPr lang="zh-TW" altLang="en-US"/>
              <a:t> 教學</a:t>
            </a:r>
            <a:endParaRPr lang="zh-TW" altLang="en-US" dirty="0"/>
          </a:p>
        </p:txBody>
      </p:sp>
    </p:spTree>
    <p:extLst>
      <p:ext uri="{BB962C8B-B14F-4D97-AF65-F5344CB8AC3E}">
        <p14:creationId xmlns:p14="http://schemas.microsoft.com/office/powerpoint/2010/main" val="24454337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05AC4BB-565C-D239-8E25-42C24F523B3F}"/>
              </a:ext>
            </a:extLst>
          </p:cNvPr>
          <p:cNvSpPr>
            <a:spLocks noGrp="1"/>
          </p:cNvSpPr>
          <p:nvPr>
            <p:ph type="title"/>
          </p:nvPr>
        </p:nvSpPr>
        <p:spPr/>
        <p:txBody>
          <a:bodyPr>
            <a:normAutofit/>
          </a:bodyPr>
          <a:lstStyle/>
          <a:p>
            <a:r>
              <a:rPr lang="zh-TW" altLang="en-US" sz="3600"/>
              <a:t>系統架構</a:t>
            </a:r>
          </a:p>
        </p:txBody>
      </p:sp>
      <p:sp>
        <p:nvSpPr>
          <p:cNvPr id="4" name="矩形: 圓角 3">
            <a:extLst>
              <a:ext uri="{FF2B5EF4-FFF2-40B4-BE49-F238E27FC236}">
                <a16:creationId xmlns:a16="http://schemas.microsoft.com/office/drawing/2014/main" id="{6DB6B294-DE80-FC42-F734-A2B277295125}"/>
              </a:ext>
            </a:extLst>
          </p:cNvPr>
          <p:cNvSpPr/>
          <p:nvPr/>
        </p:nvSpPr>
        <p:spPr>
          <a:xfrm>
            <a:off x="950819" y="2284786"/>
            <a:ext cx="1972236" cy="1048871"/>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en-US">
                <a:solidFill>
                  <a:schemeClr val="tx1"/>
                </a:solidFill>
              </a:rPr>
              <a:t>前台 前端</a:t>
            </a:r>
            <a:endParaRPr lang="en-US" altLang="zh-TW">
              <a:solidFill>
                <a:schemeClr val="tx1"/>
              </a:solidFill>
            </a:endParaRPr>
          </a:p>
          <a:p>
            <a:pPr algn="ctr"/>
            <a:r>
              <a:rPr lang="en-US" altLang="zh-TW" sz="1400">
                <a:solidFill>
                  <a:schemeClr val="tx1"/>
                </a:solidFill>
              </a:rPr>
              <a:t>React.js</a:t>
            </a:r>
            <a:endParaRPr lang="zh-TW" altLang="en-US" sz="1400">
              <a:solidFill>
                <a:schemeClr val="tx1"/>
              </a:solidFill>
            </a:endParaRPr>
          </a:p>
        </p:txBody>
      </p:sp>
      <p:sp>
        <p:nvSpPr>
          <p:cNvPr id="5" name="矩形: 圓角 4">
            <a:extLst>
              <a:ext uri="{FF2B5EF4-FFF2-40B4-BE49-F238E27FC236}">
                <a16:creationId xmlns:a16="http://schemas.microsoft.com/office/drawing/2014/main" id="{02351548-85E1-19BB-038E-FB183E31A12E}"/>
              </a:ext>
            </a:extLst>
          </p:cNvPr>
          <p:cNvSpPr/>
          <p:nvPr/>
        </p:nvSpPr>
        <p:spPr>
          <a:xfrm>
            <a:off x="950819" y="4391492"/>
            <a:ext cx="1972236" cy="1048871"/>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en-US">
                <a:solidFill>
                  <a:schemeClr val="tx1"/>
                </a:solidFill>
              </a:rPr>
              <a:t>後台 前端</a:t>
            </a:r>
            <a:endParaRPr lang="en-US" altLang="zh-TW">
              <a:solidFill>
                <a:schemeClr val="tx1"/>
              </a:solidFill>
            </a:endParaRPr>
          </a:p>
          <a:p>
            <a:pPr algn="ctr"/>
            <a:r>
              <a:rPr lang="en-US" altLang="zh-TW" sz="1400">
                <a:solidFill>
                  <a:schemeClr val="tx1"/>
                </a:solidFill>
              </a:rPr>
              <a:t>React.js</a:t>
            </a:r>
            <a:endParaRPr lang="zh-TW" altLang="en-US" sz="1400">
              <a:solidFill>
                <a:schemeClr val="tx1"/>
              </a:solidFill>
            </a:endParaRPr>
          </a:p>
        </p:txBody>
      </p:sp>
      <p:sp>
        <p:nvSpPr>
          <p:cNvPr id="6" name="矩形: 圓角 5">
            <a:extLst>
              <a:ext uri="{FF2B5EF4-FFF2-40B4-BE49-F238E27FC236}">
                <a16:creationId xmlns:a16="http://schemas.microsoft.com/office/drawing/2014/main" id="{031A6E5D-767E-EFD5-3E90-3515FE019979}"/>
              </a:ext>
            </a:extLst>
          </p:cNvPr>
          <p:cNvSpPr/>
          <p:nvPr/>
        </p:nvSpPr>
        <p:spPr>
          <a:xfrm>
            <a:off x="5030320" y="3320783"/>
            <a:ext cx="1972236" cy="1048871"/>
          </a:xfrm>
          <a:prstGeom prst="roundRect">
            <a:avLst/>
          </a:prstGeom>
          <a:solidFill>
            <a:schemeClr val="accent2">
              <a:lumMod val="40000"/>
              <a:lumOff val="60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en-US">
                <a:solidFill>
                  <a:schemeClr val="tx1"/>
                </a:solidFill>
              </a:rPr>
              <a:t>後端</a:t>
            </a:r>
            <a:endParaRPr lang="en-US" altLang="zh-TW">
              <a:solidFill>
                <a:schemeClr val="tx1"/>
              </a:solidFill>
            </a:endParaRPr>
          </a:p>
          <a:p>
            <a:pPr algn="ctr"/>
            <a:r>
              <a:rPr lang="en-US" altLang="zh-TW" sz="1400">
                <a:solidFill>
                  <a:schemeClr val="tx1"/>
                </a:solidFill>
              </a:rPr>
              <a:t>Django</a:t>
            </a:r>
            <a:endParaRPr lang="zh-TW" altLang="en-US" sz="1400">
              <a:solidFill>
                <a:schemeClr val="tx1"/>
              </a:solidFill>
            </a:endParaRPr>
          </a:p>
        </p:txBody>
      </p:sp>
      <p:cxnSp>
        <p:nvCxnSpPr>
          <p:cNvPr id="8" name="接點: 弧形 7">
            <a:extLst>
              <a:ext uri="{FF2B5EF4-FFF2-40B4-BE49-F238E27FC236}">
                <a16:creationId xmlns:a16="http://schemas.microsoft.com/office/drawing/2014/main" id="{E8C7DB5A-858D-643E-5F36-387B7F658D30}"/>
              </a:ext>
            </a:extLst>
          </p:cNvPr>
          <p:cNvCxnSpPr>
            <a:cxnSpLocks/>
            <a:stCxn id="4" idx="3"/>
            <a:endCxn id="6" idx="1"/>
          </p:cNvCxnSpPr>
          <p:nvPr/>
        </p:nvCxnSpPr>
        <p:spPr>
          <a:xfrm>
            <a:off x="2923055" y="2809222"/>
            <a:ext cx="2107265" cy="1035997"/>
          </a:xfrm>
          <a:prstGeom prst="curvedConnector3">
            <a:avLst/>
          </a:prstGeom>
          <a:ln>
            <a:headEnd type="arrow"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0" name="接點: 弧形 9">
            <a:extLst>
              <a:ext uri="{FF2B5EF4-FFF2-40B4-BE49-F238E27FC236}">
                <a16:creationId xmlns:a16="http://schemas.microsoft.com/office/drawing/2014/main" id="{F5E03224-8F3B-A7D6-BB50-1FD54E9FDEFF}"/>
              </a:ext>
            </a:extLst>
          </p:cNvPr>
          <p:cNvCxnSpPr>
            <a:stCxn id="5" idx="3"/>
            <a:endCxn id="6" idx="1"/>
          </p:cNvCxnSpPr>
          <p:nvPr/>
        </p:nvCxnSpPr>
        <p:spPr>
          <a:xfrm flipV="1">
            <a:off x="2923055" y="3845219"/>
            <a:ext cx="2107265" cy="1070709"/>
          </a:xfrm>
          <a:prstGeom prst="curvedConnector3">
            <a:avLst/>
          </a:prstGeom>
          <a:ln>
            <a:headEnd type="arrow" w="med" len="med"/>
            <a:tailEnd type="arrow" w="med" len="med"/>
          </a:ln>
        </p:spPr>
        <p:style>
          <a:lnRef idx="2">
            <a:schemeClr val="accent1"/>
          </a:lnRef>
          <a:fillRef idx="0">
            <a:schemeClr val="accent1"/>
          </a:fillRef>
          <a:effectRef idx="1">
            <a:schemeClr val="accent1"/>
          </a:effectRef>
          <a:fontRef idx="minor">
            <a:schemeClr val="tx1"/>
          </a:fontRef>
        </p:style>
      </p:cxnSp>
      <p:sp>
        <p:nvSpPr>
          <p:cNvPr id="11" name="文字方塊 10">
            <a:extLst>
              <a:ext uri="{FF2B5EF4-FFF2-40B4-BE49-F238E27FC236}">
                <a16:creationId xmlns:a16="http://schemas.microsoft.com/office/drawing/2014/main" id="{60306366-7AB1-4E66-EFED-E0E4FD486932}"/>
              </a:ext>
            </a:extLst>
          </p:cNvPr>
          <p:cNvSpPr txBox="1"/>
          <p:nvPr/>
        </p:nvSpPr>
        <p:spPr>
          <a:xfrm>
            <a:off x="3142289" y="2533259"/>
            <a:ext cx="1608133" cy="338554"/>
          </a:xfrm>
          <a:prstGeom prst="rect">
            <a:avLst/>
          </a:prstGeom>
          <a:noFill/>
        </p:spPr>
        <p:txBody>
          <a:bodyPr wrap="none" rtlCol="0">
            <a:spAutoFit/>
          </a:bodyPr>
          <a:lstStyle/>
          <a:p>
            <a:r>
              <a:rPr lang="zh-TW" altLang="en-US" sz="1600"/>
              <a:t>指令交互 </a:t>
            </a:r>
            <a:r>
              <a:rPr lang="en-US" altLang="zh-TW" sz="1600"/>
              <a:t>+</a:t>
            </a:r>
            <a:r>
              <a:rPr lang="zh-TW" altLang="en-US" sz="1600"/>
              <a:t> 訊息</a:t>
            </a:r>
          </a:p>
        </p:txBody>
      </p:sp>
      <p:sp>
        <p:nvSpPr>
          <p:cNvPr id="13" name="文字方塊 12">
            <a:extLst>
              <a:ext uri="{FF2B5EF4-FFF2-40B4-BE49-F238E27FC236}">
                <a16:creationId xmlns:a16="http://schemas.microsoft.com/office/drawing/2014/main" id="{7EC7526A-EB1B-E513-7B0F-803837D03E73}"/>
              </a:ext>
            </a:extLst>
          </p:cNvPr>
          <p:cNvSpPr txBox="1"/>
          <p:nvPr/>
        </p:nvSpPr>
        <p:spPr>
          <a:xfrm>
            <a:off x="3657600" y="4748139"/>
            <a:ext cx="1005403" cy="338554"/>
          </a:xfrm>
          <a:prstGeom prst="rect">
            <a:avLst/>
          </a:prstGeom>
          <a:noFill/>
        </p:spPr>
        <p:txBody>
          <a:bodyPr wrap="none" rtlCol="0">
            <a:spAutoFit/>
          </a:bodyPr>
          <a:lstStyle/>
          <a:p>
            <a:r>
              <a:rPr lang="zh-TW" altLang="en-US" sz="1600"/>
              <a:t>指令交互</a:t>
            </a:r>
          </a:p>
        </p:txBody>
      </p:sp>
      <p:sp>
        <p:nvSpPr>
          <p:cNvPr id="14" name="矩形: 圓角 13">
            <a:extLst>
              <a:ext uri="{FF2B5EF4-FFF2-40B4-BE49-F238E27FC236}">
                <a16:creationId xmlns:a16="http://schemas.microsoft.com/office/drawing/2014/main" id="{437BE8CA-6C42-966A-AAA2-BB9EB31AAAC5}"/>
              </a:ext>
            </a:extLst>
          </p:cNvPr>
          <p:cNvSpPr/>
          <p:nvPr/>
        </p:nvSpPr>
        <p:spPr>
          <a:xfrm>
            <a:off x="9061917" y="3320782"/>
            <a:ext cx="1972236" cy="1048871"/>
          </a:xfrm>
          <a:prstGeom prst="round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a:solidFill>
                  <a:schemeClr val="tx1"/>
                </a:solidFill>
              </a:rPr>
              <a:t>Agent</a:t>
            </a:r>
          </a:p>
          <a:p>
            <a:pPr algn="ctr"/>
            <a:r>
              <a:rPr lang="en-US" altLang="zh-TW" sz="1400">
                <a:solidFill>
                  <a:schemeClr val="tx1"/>
                </a:solidFill>
              </a:rPr>
              <a:t>Gemini CLI</a:t>
            </a:r>
          </a:p>
        </p:txBody>
      </p:sp>
      <p:cxnSp>
        <p:nvCxnSpPr>
          <p:cNvPr id="16" name="直線單箭頭接點 15">
            <a:extLst>
              <a:ext uri="{FF2B5EF4-FFF2-40B4-BE49-F238E27FC236}">
                <a16:creationId xmlns:a16="http://schemas.microsoft.com/office/drawing/2014/main" id="{229ADE0F-2FC4-356E-F686-B3EEEA3BEE04}"/>
              </a:ext>
            </a:extLst>
          </p:cNvPr>
          <p:cNvCxnSpPr>
            <a:cxnSpLocks/>
          </p:cNvCxnSpPr>
          <p:nvPr/>
        </p:nvCxnSpPr>
        <p:spPr>
          <a:xfrm>
            <a:off x="7002556" y="3654258"/>
            <a:ext cx="2059361" cy="7056"/>
          </a:xfrm>
          <a:prstGeom prst="straightConnector1">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pic>
        <p:nvPicPr>
          <p:cNvPr id="1026" name="Picture 2" descr="Gemini CLI Companion - Visual Studio Marketplace">
            <a:extLst>
              <a:ext uri="{FF2B5EF4-FFF2-40B4-BE49-F238E27FC236}">
                <a16:creationId xmlns:a16="http://schemas.microsoft.com/office/drawing/2014/main" id="{63FF9C67-1ED5-096F-37EF-28EE988BDD5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38573" y="3897368"/>
            <a:ext cx="168088" cy="168088"/>
          </a:xfrm>
          <a:prstGeom prst="rect">
            <a:avLst/>
          </a:prstGeom>
          <a:noFill/>
          <a:extLst>
            <a:ext uri="{909E8E84-426E-40DD-AFC4-6F175D3DCCD1}">
              <a14:hiddenFill xmlns:a14="http://schemas.microsoft.com/office/drawing/2010/main">
                <a:solidFill>
                  <a:srgbClr val="FFFFFF"/>
                </a:solidFill>
              </a14:hiddenFill>
            </a:ext>
          </a:extLst>
        </p:spPr>
      </p:pic>
      <p:sp>
        <p:nvSpPr>
          <p:cNvPr id="21" name="矩形: 圓角 20">
            <a:extLst>
              <a:ext uri="{FF2B5EF4-FFF2-40B4-BE49-F238E27FC236}">
                <a16:creationId xmlns:a16="http://schemas.microsoft.com/office/drawing/2014/main" id="{025D504B-7021-E9B7-303D-27C0B0172CED}"/>
              </a:ext>
            </a:extLst>
          </p:cNvPr>
          <p:cNvSpPr/>
          <p:nvPr/>
        </p:nvSpPr>
        <p:spPr>
          <a:xfrm>
            <a:off x="5030320" y="5458025"/>
            <a:ext cx="1972236" cy="1048871"/>
          </a:xfrm>
          <a:prstGeom prst="roundRect">
            <a:avLst/>
          </a:prstGeom>
          <a:solidFill>
            <a:srgbClr val="B5BCEF"/>
          </a:solidFill>
          <a:ln>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en-US">
                <a:solidFill>
                  <a:schemeClr val="tx1"/>
                </a:solidFill>
              </a:rPr>
              <a:t>資料庫</a:t>
            </a:r>
            <a:endParaRPr lang="en-US" altLang="zh-TW">
              <a:solidFill>
                <a:schemeClr val="tx1"/>
              </a:solidFill>
            </a:endParaRPr>
          </a:p>
          <a:p>
            <a:pPr algn="ctr"/>
            <a:r>
              <a:rPr lang="en-US" altLang="zh-TW" sz="1400">
                <a:solidFill>
                  <a:schemeClr val="tx1"/>
                </a:solidFill>
              </a:rPr>
              <a:t>MySQL</a:t>
            </a:r>
            <a:endParaRPr lang="zh-TW" altLang="en-US" sz="1400">
              <a:solidFill>
                <a:schemeClr val="tx1"/>
              </a:solidFill>
            </a:endParaRPr>
          </a:p>
        </p:txBody>
      </p:sp>
      <p:cxnSp>
        <p:nvCxnSpPr>
          <p:cNvPr id="22" name="直線單箭頭接點 21">
            <a:extLst>
              <a:ext uri="{FF2B5EF4-FFF2-40B4-BE49-F238E27FC236}">
                <a16:creationId xmlns:a16="http://schemas.microsoft.com/office/drawing/2014/main" id="{7939C874-439F-164F-0D39-E0B7C8ECEFAF}"/>
              </a:ext>
            </a:extLst>
          </p:cNvPr>
          <p:cNvCxnSpPr>
            <a:cxnSpLocks/>
            <a:stCxn id="6" idx="2"/>
            <a:endCxn id="21" idx="0"/>
          </p:cNvCxnSpPr>
          <p:nvPr/>
        </p:nvCxnSpPr>
        <p:spPr>
          <a:xfrm>
            <a:off x="6016438" y="4369654"/>
            <a:ext cx="0" cy="1088371"/>
          </a:xfrm>
          <a:prstGeom prst="straightConnector1">
            <a:avLst/>
          </a:prstGeom>
          <a:ln>
            <a:headEnd type="arrow" w="med" len="med"/>
            <a:tailEnd type="arrow" w="med" len="med"/>
          </a:ln>
        </p:spPr>
        <p:style>
          <a:lnRef idx="2">
            <a:schemeClr val="accent1"/>
          </a:lnRef>
          <a:fillRef idx="0">
            <a:schemeClr val="accent1"/>
          </a:fillRef>
          <a:effectRef idx="1">
            <a:schemeClr val="accent1"/>
          </a:effectRef>
          <a:fontRef idx="minor">
            <a:schemeClr val="tx1"/>
          </a:fontRef>
        </p:style>
      </p:cxnSp>
      <p:sp>
        <p:nvSpPr>
          <p:cNvPr id="26" name="文字方塊 25">
            <a:extLst>
              <a:ext uri="{FF2B5EF4-FFF2-40B4-BE49-F238E27FC236}">
                <a16:creationId xmlns:a16="http://schemas.microsoft.com/office/drawing/2014/main" id="{FB63829D-BB27-D940-B946-3822B92F5BAE}"/>
              </a:ext>
            </a:extLst>
          </p:cNvPr>
          <p:cNvSpPr txBox="1"/>
          <p:nvPr/>
        </p:nvSpPr>
        <p:spPr>
          <a:xfrm>
            <a:off x="6016438" y="4748139"/>
            <a:ext cx="1129864" cy="338554"/>
          </a:xfrm>
          <a:prstGeom prst="rect">
            <a:avLst/>
          </a:prstGeom>
          <a:noFill/>
        </p:spPr>
        <p:txBody>
          <a:bodyPr wrap="square" rtlCol="0">
            <a:spAutoFit/>
          </a:bodyPr>
          <a:lstStyle/>
          <a:p>
            <a:r>
              <a:rPr lang="zh-TW" altLang="en-US" sz="1600"/>
              <a:t>指令交互</a:t>
            </a:r>
          </a:p>
        </p:txBody>
      </p:sp>
      <p:cxnSp>
        <p:nvCxnSpPr>
          <p:cNvPr id="27" name="直線單箭頭接點 26">
            <a:extLst>
              <a:ext uri="{FF2B5EF4-FFF2-40B4-BE49-F238E27FC236}">
                <a16:creationId xmlns:a16="http://schemas.microsoft.com/office/drawing/2014/main" id="{5E6C5018-A439-7C10-A42C-6EEFB6A89E22}"/>
              </a:ext>
            </a:extLst>
          </p:cNvPr>
          <p:cNvCxnSpPr>
            <a:cxnSpLocks/>
          </p:cNvCxnSpPr>
          <p:nvPr/>
        </p:nvCxnSpPr>
        <p:spPr>
          <a:xfrm flipH="1">
            <a:off x="7002556" y="4023589"/>
            <a:ext cx="2059361" cy="0"/>
          </a:xfrm>
          <a:prstGeom prst="straightConnector1">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30" name="文字方塊 29">
            <a:extLst>
              <a:ext uri="{FF2B5EF4-FFF2-40B4-BE49-F238E27FC236}">
                <a16:creationId xmlns:a16="http://schemas.microsoft.com/office/drawing/2014/main" id="{62A007C3-F402-040E-86EB-F68C62235E6C}"/>
              </a:ext>
            </a:extLst>
          </p:cNvPr>
          <p:cNvSpPr txBox="1"/>
          <p:nvPr/>
        </p:nvSpPr>
        <p:spPr>
          <a:xfrm>
            <a:off x="7441088" y="4065456"/>
            <a:ext cx="1197764" cy="338554"/>
          </a:xfrm>
          <a:prstGeom prst="rect">
            <a:avLst/>
          </a:prstGeom>
          <a:noFill/>
        </p:spPr>
        <p:txBody>
          <a:bodyPr wrap="none" rtlCol="0">
            <a:spAutoFit/>
          </a:bodyPr>
          <a:lstStyle/>
          <a:p>
            <a:r>
              <a:rPr lang="zh-TW" altLang="en-US" sz="1600"/>
              <a:t>指令 </a:t>
            </a:r>
            <a:r>
              <a:rPr lang="en-US" altLang="zh-TW" sz="1600"/>
              <a:t>+</a:t>
            </a:r>
            <a:r>
              <a:rPr lang="zh-TW" altLang="en-US" sz="1600"/>
              <a:t> 訊息</a:t>
            </a:r>
          </a:p>
        </p:txBody>
      </p:sp>
      <p:sp>
        <p:nvSpPr>
          <p:cNvPr id="31" name="矩形: 圓角 30">
            <a:extLst>
              <a:ext uri="{FF2B5EF4-FFF2-40B4-BE49-F238E27FC236}">
                <a16:creationId xmlns:a16="http://schemas.microsoft.com/office/drawing/2014/main" id="{7EC42F5F-99B1-63FB-DFAA-2B8B9A0BE201}"/>
              </a:ext>
            </a:extLst>
          </p:cNvPr>
          <p:cNvSpPr/>
          <p:nvPr/>
        </p:nvSpPr>
        <p:spPr>
          <a:xfrm>
            <a:off x="8075799" y="5454384"/>
            <a:ext cx="1972236" cy="1048871"/>
          </a:xfrm>
          <a:prstGeom prst="roundRect">
            <a:avLst/>
          </a:prstGeom>
          <a:solidFill>
            <a:srgbClr val="B5BCEF"/>
          </a:solidFill>
          <a:ln>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en-US">
                <a:solidFill>
                  <a:schemeClr val="tx1"/>
                </a:solidFill>
              </a:rPr>
              <a:t>資料可視化</a:t>
            </a:r>
            <a:endParaRPr lang="en-US" altLang="zh-TW">
              <a:solidFill>
                <a:schemeClr val="tx1"/>
              </a:solidFill>
            </a:endParaRPr>
          </a:p>
          <a:p>
            <a:pPr algn="ctr"/>
            <a:r>
              <a:rPr lang="en-US" altLang="zh-TW" sz="1400">
                <a:solidFill>
                  <a:schemeClr val="tx1"/>
                </a:solidFill>
              </a:rPr>
              <a:t>phpMyAdmin</a:t>
            </a:r>
            <a:endParaRPr lang="zh-TW" altLang="en-US" sz="1400">
              <a:solidFill>
                <a:schemeClr val="tx1"/>
              </a:solidFill>
            </a:endParaRPr>
          </a:p>
        </p:txBody>
      </p:sp>
      <p:cxnSp>
        <p:nvCxnSpPr>
          <p:cNvPr id="36" name="直線單箭頭接點 35">
            <a:extLst>
              <a:ext uri="{FF2B5EF4-FFF2-40B4-BE49-F238E27FC236}">
                <a16:creationId xmlns:a16="http://schemas.microsoft.com/office/drawing/2014/main" id="{56D3C362-17BA-F489-DAD2-84A323F1FFD1}"/>
              </a:ext>
            </a:extLst>
          </p:cNvPr>
          <p:cNvCxnSpPr>
            <a:cxnSpLocks/>
            <a:stCxn id="31" idx="1"/>
          </p:cNvCxnSpPr>
          <p:nvPr/>
        </p:nvCxnSpPr>
        <p:spPr>
          <a:xfrm flipH="1" flipV="1">
            <a:off x="7002556" y="5978819"/>
            <a:ext cx="1073243" cy="1"/>
          </a:xfrm>
          <a:prstGeom prst="straightConnector1">
            <a:avLst/>
          </a:prstGeom>
          <a:ln>
            <a:headEnd type="arrow" w="med" len="med"/>
            <a:tailEnd type="arrow" w="med" len="med"/>
          </a:ln>
        </p:spPr>
        <p:style>
          <a:lnRef idx="2">
            <a:schemeClr val="accent1"/>
          </a:lnRef>
          <a:fillRef idx="0">
            <a:schemeClr val="accent1"/>
          </a:fillRef>
          <a:effectRef idx="1">
            <a:schemeClr val="accent1"/>
          </a:effectRef>
          <a:fontRef idx="minor">
            <a:schemeClr val="tx1"/>
          </a:fontRef>
        </p:style>
      </p:cxnSp>
      <p:sp>
        <p:nvSpPr>
          <p:cNvPr id="40" name="文字方塊 39">
            <a:extLst>
              <a:ext uri="{FF2B5EF4-FFF2-40B4-BE49-F238E27FC236}">
                <a16:creationId xmlns:a16="http://schemas.microsoft.com/office/drawing/2014/main" id="{370E46D5-334E-E23A-0441-9D9D9B0AA5B6}"/>
              </a:ext>
            </a:extLst>
          </p:cNvPr>
          <p:cNvSpPr txBox="1"/>
          <p:nvPr/>
        </p:nvSpPr>
        <p:spPr>
          <a:xfrm>
            <a:off x="7002556" y="6034462"/>
            <a:ext cx="1129864" cy="338554"/>
          </a:xfrm>
          <a:prstGeom prst="rect">
            <a:avLst/>
          </a:prstGeom>
          <a:noFill/>
        </p:spPr>
        <p:txBody>
          <a:bodyPr wrap="square" rtlCol="0">
            <a:spAutoFit/>
          </a:bodyPr>
          <a:lstStyle/>
          <a:p>
            <a:r>
              <a:rPr lang="zh-TW" altLang="en-US" sz="1600"/>
              <a:t>指令交互</a:t>
            </a:r>
          </a:p>
        </p:txBody>
      </p:sp>
      <p:sp>
        <p:nvSpPr>
          <p:cNvPr id="43" name="矩形: 圓角 42">
            <a:extLst>
              <a:ext uri="{FF2B5EF4-FFF2-40B4-BE49-F238E27FC236}">
                <a16:creationId xmlns:a16="http://schemas.microsoft.com/office/drawing/2014/main" id="{BAB38878-9E9D-D1CE-F03F-EC6671D90586}"/>
              </a:ext>
            </a:extLst>
          </p:cNvPr>
          <p:cNvSpPr/>
          <p:nvPr/>
        </p:nvSpPr>
        <p:spPr>
          <a:xfrm>
            <a:off x="6009739" y="1235915"/>
            <a:ext cx="1972236" cy="1048871"/>
          </a:xfrm>
          <a:prstGeom prst="round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a:solidFill>
                  <a:schemeClr val="tx1"/>
                </a:solidFill>
              </a:rPr>
              <a:t>Rule Base</a:t>
            </a:r>
          </a:p>
        </p:txBody>
      </p:sp>
      <p:cxnSp>
        <p:nvCxnSpPr>
          <p:cNvPr id="44" name="直線單箭頭接點 43">
            <a:extLst>
              <a:ext uri="{FF2B5EF4-FFF2-40B4-BE49-F238E27FC236}">
                <a16:creationId xmlns:a16="http://schemas.microsoft.com/office/drawing/2014/main" id="{E1FD92A4-058C-CC0A-222F-5764DE1C4846}"/>
              </a:ext>
            </a:extLst>
          </p:cNvPr>
          <p:cNvCxnSpPr>
            <a:cxnSpLocks/>
            <a:stCxn id="6" idx="0"/>
            <a:endCxn id="43" idx="2"/>
          </p:cNvCxnSpPr>
          <p:nvPr/>
        </p:nvCxnSpPr>
        <p:spPr>
          <a:xfrm flipV="1">
            <a:off x="6016438" y="2284786"/>
            <a:ext cx="979419" cy="1035997"/>
          </a:xfrm>
          <a:prstGeom prst="straightConnector1">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8" name="直線單箭頭接點 47">
            <a:extLst>
              <a:ext uri="{FF2B5EF4-FFF2-40B4-BE49-F238E27FC236}">
                <a16:creationId xmlns:a16="http://schemas.microsoft.com/office/drawing/2014/main" id="{9A11271C-1A3A-EB7A-293F-1C09BEAD675B}"/>
              </a:ext>
            </a:extLst>
          </p:cNvPr>
          <p:cNvCxnSpPr>
            <a:cxnSpLocks/>
          </p:cNvCxnSpPr>
          <p:nvPr/>
        </p:nvCxnSpPr>
        <p:spPr>
          <a:xfrm flipH="1">
            <a:off x="6407185" y="2281597"/>
            <a:ext cx="1006413" cy="1051873"/>
          </a:xfrm>
          <a:prstGeom prst="straightConnector1">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56" name="文字方塊 55">
            <a:extLst>
              <a:ext uri="{FF2B5EF4-FFF2-40B4-BE49-F238E27FC236}">
                <a16:creationId xmlns:a16="http://schemas.microsoft.com/office/drawing/2014/main" id="{65883D15-A270-8E1B-C85A-F88BBA7B50AA}"/>
              </a:ext>
            </a:extLst>
          </p:cNvPr>
          <p:cNvSpPr txBox="1"/>
          <p:nvPr/>
        </p:nvSpPr>
        <p:spPr>
          <a:xfrm>
            <a:off x="6940295" y="2655976"/>
            <a:ext cx="1197764" cy="338554"/>
          </a:xfrm>
          <a:prstGeom prst="rect">
            <a:avLst/>
          </a:prstGeom>
          <a:noFill/>
        </p:spPr>
        <p:txBody>
          <a:bodyPr wrap="none" rtlCol="0">
            <a:spAutoFit/>
          </a:bodyPr>
          <a:lstStyle/>
          <a:p>
            <a:r>
              <a:rPr lang="zh-TW" altLang="en-US" sz="1600"/>
              <a:t>指令 </a:t>
            </a:r>
            <a:r>
              <a:rPr lang="en-US" altLang="zh-TW" sz="1600"/>
              <a:t>+</a:t>
            </a:r>
            <a:r>
              <a:rPr lang="zh-TW" altLang="en-US" sz="1600"/>
              <a:t> 訊息</a:t>
            </a:r>
          </a:p>
        </p:txBody>
      </p:sp>
      <p:sp>
        <p:nvSpPr>
          <p:cNvPr id="57" name="文字方塊 56">
            <a:extLst>
              <a:ext uri="{FF2B5EF4-FFF2-40B4-BE49-F238E27FC236}">
                <a16:creationId xmlns:a16="http://schemas.microsoft.com/office/drawing/2014/main" id="{B04828B7-381C-6CFA-8DE1-CBDCF68088EF}"/>
              </a:ext>
            </a:extLst>
          </p:cNvPr>
          <p:cNvSpPr txBox="1"/>
          <p:nvPr/>
        </p:nvSpPr>
        <p:spPr>
          <a:xfrm>
            <a:off x="4908274" y="2466564"/>
            <a:ext cx="1620957" cy="338554"/>
          </a:xfrm>
          <a:prstGeom prst="rect">
            <a:avLst/>
          </a:prstGeom>
          <a:noFill/>
        </p:spPr>
        <p:txBody>
          <a:bodyPr wrap="none" rtlCol="0">
            <a:spAutoFit/>
          </a:bodyPr>
          <a:lstStyle/>
          <a:p>
            <a:r>
              <a:rPr lang="zh-TW" altLang="en-US" sz="1600"/>
              <a:t>簡單訊息、雜訊</a:t>
            </a:r>
          </a:p>
        </p:txBody>
      </p:sp>
      <p:sp>
        <p:nvSpPr>
          <p:cNvPr id="1029" name="文字方塊 1028">
            <a:extLst>
              <a:ext uri="{FF2B5EF4-FFF2-40B4-BE49-F238E27FC236}">
                <a16:creationId xmlns:a16="http://schemas.microsoft.com/office/drawing/2014/main" id="{F813D730-0FE0-F094-1384-E51C2659E1B5}"/>
              </a:ext>
            </a:extLst>
          </p:cNvPr>
          <p:cNvSpPr txBox="1"/>
          <p:nvPr/>
        </p:nvSpPr>
        <p:spPr>
          <a:xfrm>
            <a:off x="7201337" y="3280839"/>
            <a:ext cx="1620957" cy="338554"/>
          </a:xfrm>
          <a:prstGeom prst="rect">
            <a:avLst/>
          </a:prstGeom>
          <a:noFill/>
        </p:spPr>
        <p:txBody>
          <a:bodyPr wrap="none" rtlCol="0">
            <a:spAutoFit/>
          </a:bodyPr>
          <a:lstStyle>
            <a:defPPr>
              <a:defRPr lang="zh-TW"/>
            </a:defPPr>
            <a:lvl1pPr>
              <a:defRPr sz="1600"/>
            </a:lvl1pPr>
          </a:lstStyle>
          <a:p>
            <a:r>
              <a:rPr lang="zh-TW" altLang="en-US"/>
              <a:t>模糊、複雜訊息</a:t>
            </a:r>
          </a:p>
        </p:txBody>
      </p:sp>
    </p:spTree>
    <p:extLst>
      <p:ext uri="{BB962C8B-B14F-4D97-AF65-F5344CB8AC3E}">
        <p14:creationId xmlns:p14="http://schemas.microsoft.com/office/powerpoint/2010/main" val="26547937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FFAE6FA-FFEA-0493-5509-68827C9ABF87}"/>
              </a:ext>
            </a:extLst>
          </p:cNvPr>
          <p:cNvSpPr>
            <a:spLocks noGrp="1"/>
          </p:cNvSpPr>
          <p:nvPr>
            <p:ph type="title"/>
          </p:nvPr>
        </p:nvSpPr>
        <p:spPr>
          <a:xfrm>
            <a:off x="595312" y="115922"/>
            <a:ext cx="11001375" cy="1325563"/>
          </a:xfrm>
        </p:spPr>
        <p:txBody>
          <a:bodyPr>
            <a:normAutofit/>
          </a:bodyPr>
          <a:lstStyle/>
          <a:p>
            <a:r>
              <a:rPr lang="en-US" altLang="zh-TW" sz="3600"/>
              <a:t>Gemini </a:t>
            </a:r>
            <a:r>
              <a:rPr lang="zh-TW" altLang="en-US" sz="3600"/>
              <a:t>的加入優化傳統點餐系統上的哪些痛點</a:t>
            </a:r>
            <a:r>
              <a:rPr lang="en-US" altLang="zh-TW" sz="3600"/>
              <a:t>?</a:t>
            </a:r>
            <a:endParaRPr lang="zh-TW" altLang="en-US" sz="3600"/>
          </a:p>
        </p:txBody>
      </p:sp>
      <p:sp>
        <p:nvSpPr>
          <p:cNvPr id="4" name="文字方塊 3">
            <a:extLst>
              <a:ext uri="{FF2B5EF4-FFF2-40B4-BE49-F238E27FC236}">
                <a16:creationId xmlns:a16="http://schemas.microsoft.com/office/drawing/2014/main" id="{A63AB39E-0532-8E68-A2FC-9A6D4A353161}"/>
              </a:ext>
            </a:extLst>
          </p:cNvPr>
          <p:cNvSpPr txBox="1"/>
          <p:nvPr/>
        </p:nvSpPr>
        <p:spPr>
          <a:xfrm>
            <a:off x="732581" y="1135214"/>
            <a:ext cx="11001375" cy="5447645"/>
          </a:xfrm>
          <a:prstGeom prst="rect">
            <a:avLst/>
          </a:prstGeom>
          <a:noFill/>
        </p:spPr>
        <p:txBody>
          <a:bodyPr wrap="square" rtlCol="0">
            <a:spAutoFit/>
          </a:bodyPr>
          <a:lstStyle/>
          <a:p>
            <a:pPr>
              <a:spcBef>
                <a:spcPts val="1000"/>
              </a:spcBef>
              <a:spcAft>
                <a:spcPts val="1000"/>
              </a:spcAft>
            </a:pPr>
            <a:r>
              <a:rPr lang="en-US" altLang="zh-TW" b="1">
                <a:latin typeface="微軟正黑體" panose="020B0604030504040204" pitchFamily="34" charset="-120"/>
                <a:ea typeface="微軟正黑體" panose="020B0604030504040204" pitchFamily="34" charset="-120"/>
              </a:rPr>
              <a:t>1. </a:t>
            </a:r>
            <a:r>
              <a:rPr lang="zh-TW" altLang="en-US" b="1">
                <a:latin typeface="微軟正黑體" panose="020B0604030504040204" pitchFamily="34" charset="-120"/>
                <a:ea typeface="微軟正黑體" panose="020B0604030504040204" pitchFamily="34" charset="-120"/>
              </a:rPr>
              <a:t>打破死板的介面，解決「點餐耗時」</a:t>
            </a:r>
            <a:endParaRPr lang="en-US" altLang="zh-TW" b="1">
              <a:latin typeface="微軟正黑體" panose="020B0604030504040204" pitchFamily="34" charset="-120"/>
              <a:ea typeface="微軟正黑體" panose="020B0604030504040204" pitchFamily="34" charset="-120"/>
            </a:endParaRPr>
          </a:p>
          <a:p>
            <a:pPr>
              <a:spcBef>
                <a:spcPts val="1000"/>
              </a:spcBef>
              <a:spcAft>
                <a:spcPts val="1000"/>
              </a:spcAft>
            </a:pPr>
            <a:r>
              <a:rPr lang="zh-TW" altLang="en-US">
                <a:latin typeface="微軟正黑體" panose="020B0604030504040204" pitchFamily="34" charset="-120"/>
                <a:ea typeface="微軟正黑體" panose="020B0604030504040204" pitchFamily="34" charset="-120"/>
              </a:rPr>
              <a:t>用戶多了向人類店員一樣細心的點餐服務，順利快速的進行確保點餐任務不會因菜品問題耽擱。</a:t>
            </a:r>
            <a:endParaRPr lang="en-US" altLang="zh-TW">
              <a:latin typeface="微軟正黑體" panose="020B0604030504040204" pitchFamily="34" charset="-120"/>
              <a:ea typeface="微軟正黑體" panose="020B0604030504040204" pitchFamily="34" charset="-120"/>
            </a:endParaRPr>
          </a:p>
          <a:p>
            <a:pPr>
              <a:spcBef>
                <a:spcPts val="1000"/>
              </a:spcBef>
              <a:spcAft>
                <a:spcPts val="1000"/>
              </a:spcAft>
            </a:pPr>
            <a:r>
              <a:rPr lang="en-US" altLang="zh-TW" b="1">
                <a:latin typeface="微軟正黑體" panose="020B0604030504040204" pitchFamily="34" charset="-120"/>
                <a:ea typeface="微軟正黑體" panose="020B0604030504040204" pitchFamily="34" charset="-120"/>
              </a:rPr>
              <a:t>2. </a:t>
            </a:r>
            <a:r>
              <a:rPr lang="zh-TW" altLang="en-US" b="1">
                <a:latin typeface="微軟正黑體" panose="020B0604030504040204" pitchFamily="34" charset="-120"/>
                <a:ea typeface="微軟正黑體" panose="020B0604030504040204" pitchFamily="34" charset="-120"/>
              </a:rPr>
              <a:t>克服語言障礙，解決「外籍食客溝通困難」</a:t>
            </a:r>
            <a:endParaRPr lang="en-US" altLang="zh-TW" b="1">
              <a:latin typeface="微軟正黑體" panose="020B0604030504040204" pitchFamily="34" charset="-120"/>
              <a:ea typeface="微軟正黑體" panose="020B0604030504040204" pitchFamily="34" charset="-120"/>
            </a:endParaRPr>
          </a:p>
          <a:p>
            <a:pPr>
              <a:spcBef>
                <a:spcPts val="1000"/>
              </a:spcBef>
              <a:spcAft>
                <a:spcPts val="1000"/>
              </a:spcAft>
            </a:pPr>
            <a:r>
              <a:rPr lang="zh-TW" altLang="en-US">
                <a:latin typeface="微軟正黑體" panose="020B0604030504040204" pitchFamily="34" charset="-120"/>
                <a:ea typeface="微軟正黑體" panose="020B0604030504040204" pitchFamily="34" charset="-120"/>
              </a:rPr>
              <a:t>遇到不懂中文的觀光客，店員往往難以溝通，且傳統多語系菜單通常只是生硬的直譯，無法解釋菜色內容。</a:t>
            </a:r>
            <a:endParaRPr lang="en-US" altLang="zh-TW">
              <a:latin typeface="微軟正黑體" panose="020B0604030504040204" pitchFamily="34" charset="-120"/>
              <a:ea typeface="微軟正黑體" panose="020B0604030504040204" pitchFamily="34" charset="-120"/>
            </a:endParaRPr>
          </a:p>
          <a:p>
            <a:pPr>
              <a:spcBef>
                <a:spcPts val="1000"/>
              </a:spcBef>
              <a:spcAft>
                <a:spcPts val="1000"/>
              </a:spcAft>
            </a:pPr>
            <a:r>
              <a:rPr lang="en-US" altLang="zh-TW" b="1">
                <a:latin typeface="微軟正黑體" panose="020B0604030504040204" pitchFamily="34" charset="-120"/>
                <a:ea typeface="微軟正黑體" panose="020B0604030504040204" pitchFamily="34" charset="-120"/>
              </a:rPr>
              <a:t>3. </a:t>
            </a:r>
            <a:r>
              <a:rPr lang="zh-TW" altLang="en-US" b="1">
                <a:latin typeface="微軟正黑體" panose="020B0604030504040204" pitchFamily="34" charset="-120"/>
                <a:ea typeface="微軟正黑體" panose="020B0604030504040204" pitchFamily="34" charset="-120"/>
              </a:rPr>
              <a:t>告別盲目推銷，解決「推薦機制僵化」</a:t>
            </a:r>
            <a:endParaRPr lang="en-US" altLang="zh-TW" b="1">
              <a:latin typeface="微軟正黑體" panose="020B0604030504040204" pitchFamily="34" charset="-120"/>
              <a:ea typeface="微軟正黑體" panose="020B0604030504040204" pitchFamily="34" charset="-120"/>
            </a:endParaRPr>
          </a:p>
          <a:p>
            <a:pPr>
              <a:spcBef>
                <a:spcPts val="1000"/>
              </a:spcBef>
              <a:spcAft>
                <a:spcPts val="1000"/>
              </a:spcAft>
            </a:pPr>
            <a:r>
              <a:rPr lang="zh-TW" altLang="en-US">
                <a:latin typeface="微軟正黑體" panose="020B0604030504040204" pitchFamily="34" charset="-120"/>
                <a:ea typeface="微軟正黑體" panose="020B0604030504040204" pitchFamily="34" charset="-120"/>
              </a:rPr>
              <a:t>系統的加購推薦通常是寫死的，例如點任何主餐都跳出「要不要加購炸雞？」，轉換率低，</a:t>
            </a:r>
            <a:r>
              <a:rPr lang="en-US" altLang="zh-TW">
                <a:latin typeface="微軟正黑體" panose="020B0604030504040204" pitchFamily="34" charset="-120"/>
                <a:ea typeface="微軟正黑體" panose="020B0604030504040204" pitchFamily="34" charset="-120"/>
              </a:rPr>
              <a:t>Gemini </a:t>
            </a:r>
            <a:r>
              <a:rPr lang="zh-TW" altLang="en-US">
                <a:latin typeface="微軟正黑體" panose="020B0604030504040204" pitchFamily="34" charset="-120"/>
                <a:ea typeface="微軟正黑體" panose="020B0604030504040204" pitchFamily="34" charset="-120"/>
              </a:rPr>
              <a:t>像真人服務生般貼心且合乎邏輯的推薦，能有效提升客單價。</a:t>
            </a:r>
            <a:endParaRPr lang="en-US" altLang="zh-TW">
              <a:latin typeface="微軟正黑體" panose="020B0604030504040204" pitchFamily="34" charset="-120"/>
              <a:ea typeface="微軟正黑體" panose="020B0604030504040204" pitchFamily="34" charset="-120"/>
            </a:endParaRPr>
          </a:p>
          <a:p>
            <a:pPr>
              <a:spcBef>
                <a:spcPts val="1000"/>
              </a:spcBef>
              <a:spcAft>
                <a:spcPts val="1000"/>
              </a:spcAft>
            </a:pPr>
            <a:r>
              <a:rPr lang="en-US" altLang="zh-TW" b="1">
                <a:latin typeface="微軟正黑體" panose="020B0604030504040204" pitchFamily="34" charset="-120"/>
                <a:ea typeface="微軟正黑體" panose="020B0604030504040204" pitchFamily="34" charset="-120"/>
              </a:rPr>
              <a:t>4. </a:t>
            </a:r>
            <a:r>
              <a:rPr lang="zh-TW" altLang="en-US" b="1">
                <a:latin typeface="微軟正黑體" panose="020B0604030504040204" pitchFamily="34" charset="-120"/>
                <a:ea typeface="微軟正黑體" panose="020B0604030504040204" pitchFamily="34" charset="-120"/>
              </a:rPr>
              <a:t>舒緩尖峰時段壓力，解決「人力短缺與接單瓶頸」</a:t>
            </a:r>
            <a:endParaRPr lang="en-US" altLang="zh-TW" b="1">
              <a:latin typeface="微軟正黑體" panose="020B0604030504040204" pitchFamily="34" charset="-120"/>
              <a:ea typeface="微軟正黑體" panose="020B0604030504040204" pitchFamily="34" charset="-120"/>
            </a:endParaRPr>
          </a:p>
          <a:p>
            <a:pPr>
              <a:spcBef>
                <a:spcPts val="1000"/>
              </a:spcBef>
              <a:spcAft>
                <a:spcPts val="1000"/>
              </a:spcAft>
            </a:pPr>
            <a:r>
              <a:rPr lang="zh-TW" altLang="en-US">
                <a:latin typeface="微軟正黑體" panose="020B0604030504040204" pitchFamily="34" charset="-120"/>
                <a:ea typeface="微軟正黑體" panose="020B0604030504040204" pitchFamily="34" charset="-120"/>
              </a:rPr>
              <a:t>用餐尖峰時段，外場人員同時要帶位、點餐、送餐，還要接聽外帶電話，容易造成服務品質下降與漏單。</a:t>
            </a:r>
            <a:endParaRPr lang="en-US" altLang="zh-TW">
              <a:latin typeface="微軟正黑體" panose="020B0604030504040204" pitchFamily="34" charset="-120"/>
              <a:ea typeface="微軟正黑體" panose="020B0604030504040204" pitchFamily="34" charset="-120"/>
            </a:endParaRPr>
          </a:p>
          <a:p>
            <a:pPr>
              <a:spcBef>
                <a:spcPts val="1000"/>
              </a:spcBef>
              <a:spcAft>
                <a:spcPts val="1000"/>
              </a:spcAft>
            </a:pPr>
            <a:r>
              <a:rPr lang="en-US" altLang="zh-TW" b="1">
                <a:latin typeface="微軟正黑體" panose="020B0604030504040204" pitchFamily="34" charset="-120"/>
                <a:ea typeface="微軟正黑體" panose="020B0604030504040204" pitchFamily="34" charset="-120"/>
              </a:rPr>
              <a:t>5.</a:t>
            </a:r>
            <a:r>
              <a:rPr lang="zh-TW" altLang="en-US" b="1">
                <a:latin typeface="微軟正黑體" panose="020B0604030504040204" pitchFamily="34" charset="-120"/>
                <a:ea typeface="微軟正黑體" panose="020B0604030504040204" pitchFamily="34" charset="-120"/>
              </a:rPr>
              <a:t> 模糊到準確的指令，解決「語意溝通困難」</a:t>
            </a:r>
            <a:endParaRPr lang="en-US" altLang="zh-TW" b="1">
              <a:latin typeface="微軟正黑體" panose="020B0604030504040204" pitchFamily="34" charset="-120"/>
              <a:ea typeface="微軟正黑體" panose="020B0604030504040204" pitchFamily="34" charset="-120"/>
            </a:endParaRPr>
          </a:p>
          <a:p>
            <a:pPr>
              <a:spcBef>
                <a:spcPts val="1000"/>
              </a:spcBef>
              <a:spcAft>
                <a:spcPts val="1000"/>
              </a:spcAft>
            </a:pPr>
            <a:r>
              <a:rPr lang="zh-TW" altLang="en-US">
                <a:latin typeface="微軟正黑體" panose="020B0604030504040204" pitchFamily="34" charset="-120"/>
                <a:ea typeface="微軟正黑體" panose="020B0604030504040204" pitchFamily="34" charset="-120"/>
              </a:rPr>
              <a:t>由架構圖可以得知，</a:t>
            </a:r>
            <a:r>
              <a:rPr lang="en-US" altLang="zh-TW">
                <a:latin typeface="微軟正黑體" panose="020B0604030504040204" pitchFamily="34" charset="-120"/>
                <a:ea typeface="微軟正黑體" panose="020B0604030504040204" pitchFamily="34" charset="-120"/>
              </a:rPr>
              <a:t>Gemini</a:t>
            </a:r>
            <a:r>
              <a:rPr lang="zh-TW" altLang="en-US">
                <a:latin typeface="微軟正黑體" panose="020B0604030504040204" pitchFamily="34" charset="-120"/>
                <a:ea typeface="微軟正黑體" panose="020B0604030504040204" pitchFamily="34" charset="-120"/>
              </a:rPr>
              <a:t> 得到訊息後可以將模糊的訊息轉換成準確的訊息或指令再交給後端處理。</a:t>
            </a:r>
            <a:endParaRPr lang="en-US" altLang="zh-TW" b="1">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392703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EF6C6D2-DD82-736A-1324-60EF715F71AC}"/>
              </a:ext>
            </a:extLst>
          </p:cNvPr>
          <p:cNvSpPr>
            <a:spLocks noGrp="1"/>
          </p:cNvSpPr>
          <p:nvPr>
            <p:ph type="title"/>
          </p:nvPr>
        </p:nvSpPr>
        <p:spPr/>
        <p:txBody>
          <a:bodyPr/>
          <a:lstStyle/>
          <a:p>
            <a:r>
              <a:rPr lang="zh-TW" altLang="en-US" dirty="0"/>
              <a:t>事前需求</a:t>
            </a:r>
          </a:p>
        </p:txBody>
      </p:sp>
      <p:sp>
        <p:nvSpPr>
          <p:cNvPr id="3" name="內容版面配置區 2">
            <a:extLst>
              <a:ext uri="{FF2B5EF4-FFF2-40B4-BE49-F238E27FC236}">
                <a16:creationId xmlns:a16="http://schemas.microsoft.com/office/drawing/2014/main" id="{04A1F08D-7B3E-1163-C799-372BB99D093C}"/>
              </a:ext>
            </a:extLst>
          </p:cNvPr>
          <p:cNvSpPr>
            <a:spLocks noGrp="1"/>
          </p:cNvSpPr>
          <p:nvPr>
            <p:ph idx="1"/>
          </p:nvPr>
        </p:nvSpPr>
        <p:spPr/>
        <p:txBody>
          <a:bodyPr/>
          <a:lstStyle/>
          <a:p>
            <a:pPr marL="514350" indent="-514350">
              <a:buFont typeface="+mj-lt"/>
              <a:buAutoNum type="arabicPeriod"/>
            </a:pPr>
            <a:r>
              <a:rPr lang="zh-TW" altLang="en-US" dirty="0"/>
              <a:t>需自備 </a:t>
            </a:r>
            <a:r>
              <a:rPr lang="en-US" altLang="zh-TW" dirty="0"/>
              <a:t>Windows 10</a:t>
            </a:r>
            <a:r>
              <a:rPr lang="zh-TW" altLang="en-US" dirty="0"/>
              <a:t>、</a:t>
            </a:r>
            <a:r>
              <a:rPr lang="en-US" altLang="zh-TW" dirty="0"/>
              <a:t>11</a:t>
            </a:r>
            <a:r>
              <a:rPr lang="zh-TW" altLang="en-US" dirty="0"/>
              <a:t> 的電腦</a:t>
            </a:r>
            <a:endParaRPr lang="en-US" altLang="zh-TW" dirty="0"/>
          </a:p>
          <a:p>
            <a:pPr marL="514350" indent="-514350">
              <a:buFont typeface="+mj-lt"/>
              <a:buAutoNum type="arabicPeriod"/>
            </a:pPr>
            <a:r>
              <a:rPr lang="en-US" altLang="zh-TW" dirty="0"/>
              <a:t>OpenAI Plus</a:t>
            </a:r>
            <a:r>
              <a:rPr lang="zh-TW" altLang="en-US" dirty="0"/>
              <a:t> 付費帳號 </a:t>
            </a:r>
            <a:r>
              <a:rPr lang="en-US" altLang="zh-TW" dirty="0"/>
              <a:t>(Codex</a:t>
            </a:r>
            <a:r>
              <a:rPr lang="zh-TW" altLang="en-US" dirty="0"/>
              <a:t> 登入用</a:t>
            </a:r>
            <a:r>
              <a:rPr lang="en-US" altLang="zh-TW" dirty="0"/>
              <a:t>)</a:t>
            </a:r>
          </a:p>
          <a:p>
            <a:pPr marL="514350" indent="-514350">
              <a:buFont typeface="+mj-lt"/>
              <a:buAutoNum type="arabicPeriod"/>
            </a:pPr>
            <a:r>
              <a:rPr lang="en-US" altLang="zh-TW" dirty="0"/>
              <a:t>Google</a:t>
            </a:r>
            <a:r>
              <a:rPr lang="zh-TW" altLang="en-US" dirty="0"/>
              <a:t> 帳號 </a:t>
            </a:r>
            <a:r>
              <a:rPr lang="en-US" altLang="zh-TW" dirty="0"/>
              <a:t>(Gemini CLI </a:t>
            </a:r>
            <a:r>
              <a:rPr lang="zh-TW" altLang="en-US" dirty="0"/>
              <a:t>登入用</a:t>
            </a:r>
            <a:r>
              <a:rPr lang="en-US" altLang="zh-TW" dirty="0"/>
              <a:t>)</a:t>
            </a:r>
          </a:p>
          <a:p>
            <a:pPr marL="514350" indent="-514350">
              <a:buFont typeface="+mj-lt"/>
              <a:buAutoNum type="arabicPeriod"/>
            </a:pPr>
            <a:r>
              <a:rPr lang="zh-TW" altLang="en-US" dirty="0"/>
              <a:t>下載 </a:t>
            </a:r>
            <a:r>
              <a:rPr lang="en-US" altLang="zh-TW" dirty="0"/>
              <a:t>+</a:t>
            </a:r>
            <a:r>
              <a:rPr lang="zh-TW" altLang="en-US" dirty="0"/>
              <a:t> 安裝 </a:t>
            </a:r>
            <a:r>
              <a:rPr lang="en-US" altLang="zh-TW" dirty="0"/>
              <a:t>Windows</a:t>
            </a:r>
            <a:r>
              <a:rPr lang="zh-TW" altLang="en-US" dirty="0"/>
              <a:t> 版本的 </a:t>
            </a:r>
            <a:r>
              <a:rPr lang="en-US" altLang="zh-TW" dirty="0"/>
              <a:t>OpenAI Codex</a:t>
            </a:r>
          </a:p>
          <a:p>
            <a:pPr marL="514350" indent="-514350">
              <a:buFont typeface="+mj-lt"/>
              <a:buAutoNum type="arabicPeriod"/>
            </a:pPr>
            <a:r>
              <a:rPr lang="zh-TW" altLang="en-US" dirty="0"/>
              <a:t>下載 </a:t>
            </a:r>
            <a:r>
              <a:rPr lang="en-US" altLang="zh-TW" dirty="0"/>
              <a:t>+</a:t>
            </a:r>
            <a:r>
              <a:rPr lang="zh-TW" altLang="en-US" dirty="0"/>
              <a:t> 安裝 </a:t>
            </a:r>
            <a:r>
              <a:rPr lang="en-US" altLang="zh-TW" i="0" dirty="0">
                <a:solidFill>
                  <a:srgbClr val="1F2328"/>
                </a:solidFill>
                <a:effectLst/>
                <a:latin typeface="Mona Sans VF"/>
              </a:rPr>
              <a:t>Git for Windows</a:t>
            </a:r>
            <a:endParaRPr lang="en-US" altLang="zh-TW" dirty="0"/>
          </a:p>
          <a:p>
            <a:pPr marL="514350" indent="-514350">
              <a:buFont typeface="+mj-lt"/>
              <a:buAutoNum type="arabicPeriod"/>
            </a:pPr>
            <a:r>
              <a:rPr lang="zh-TW" altLang="en-US" dirty="0"/>
              <a:t>下載 </a:t>
            </a:r>
            <a:r>
              <a:rPr lang="en-US" altLang="zh-TW" dirty="0"/>
              <a:t>+</a:t>
            </a:r>
            <a:r>
              <a:rPr lang="zh-TW" altLang="en-US" dirty="0"/>
              <a:t> 安裝 </a:t>
            </a:r>
            <a:r>
              <a:rPr lang="en-US" altLang="zh-TW" dirty="0"/>
              <a:t>Docker Desktop for Windows</a:t>
            </a:r>
          </a:p>
        </p:txBody>
      </p:sp>
    </p:spTree>
    <p:extLst>
      <p:ext uri="{BB962C8B-B14F-4D97-AF65-F5344CB8AC3E}">
        <p14:creationId xmlns:p14="http://schemas.microsoft.com/office/powerpoint/2010/main" val="11902122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69CF59D0-0468-31A3-D70A-491AF2287F3C}"/>
              </a:ext>
            </a:extLst>
          </p:cNvPr>
          <p:cNvSpPr>
            <a:spLocks noGrp="1"/>
          </p:cNvSpPr>
          <p:nvPr>
            <p:ph type="title"/>
          </p:nvPr>
        </p:nvSpPr>
        <p:spPr/>
        <p:txBody>
          <a:bodyPr>
            <a:normAutofit/>
          </a:bodyPr>
          <a:lstStyle/>
          <a:p>
            <a:r>
              <a:rPr lang="zh-TW" altLang="en-US" sz="3600"/>
              <a:t>第一階段  先玩看看智慧</a:t>
            </a:r>
            <a:r>
              <a:rPr lang="zh-TW" altLang="en-US" sz="3600" dirty="0"/>
              <a:t>點</a:t>
            </a:r>
            <a:r>
              <a:rPr lang="zh-TW" altLang="en-US" sz="3600"/>
              <a:t>餐系統</a:t>
            </a:r>
            <a:endParaRPr lang="zh-TW" altLang="en-US" sz="3600" dirty="0"/>
          </a:p>
        </p:txBody>
      </p:sp>
      <p:sp>
        <p:nvSpPr>
          <p:cNvPr id="3" name="內容版面配置區 2">
            <a:extLst>
              <a:ext uri="{FF2B5EF4-FFF2-40B4-BE49-F238E27FC236}">
                <a16:creationId xmlns:a16="http://schemas.microsoft.com/office/drawing/2014/main" id="{B8CCFAFD-560E-6D0D-131B-A23BB5F083BC}"/>
              </a:ext>
            </a:extLst>
          </p:cNvPr>
          <p:cNvSpPr>
            <a:spLocks noGrp="1"/>
          </p:cNvSpPr>
          <p:nvPr>
            <p:ph idx="1"/>
          </p:nvPr>
        </p:nvSpPr>
        <p:spPr>
          <a:xfrm>
            <a:off x="838200" y="1556684"/>
            <a:ext cx="10515600" cy="4351338"/>
          </a:xfrm>
        </p:spPr>
        <p:txBody>
          <a:bodyPr/>
          <a:lstStyle/>
          <a:p>
            <a:r>
              <a:rPr lang="en-US" altLang="zh-TW" dirty="0">
                <a:hlinkClick r:id="rId2"/>
              </a:rPr>
              <a:t>https://github.com/alenzenx/smart-ordering-system</a:t>
            </a:r>
            <a:endParaRPr lang="zh-TW" altLang="en-US" dirty="0"/>
          </a:p>
        </p:txBody>
      </p:sp>
      <p:pic>
        <p:nvPicPr>
          <p:cNvPr id="1026" name="Picture 2">
            <a:extLst>
              <a:ext uri="{FF2B5EF4-FFF2-40B4-BE49-F238E27FC236}">
                <a16:creationId xmlns:a16="http://schemas.microsoft.com/office/drawing/2014/main" id="{7386E416-09C8-FE48-A60F-7BFF27FF9C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8347" y="2284495"/>
            <a:ext cx="8523015" cy="40750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787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圖片 4">
            <a:extLst>
              <a:ext uri="{FF2B5EF4-FFF2-40B4-BE49-F238E27FC236}">
                <a16:creationId xmlns:a16="http://schemas.microsoft.com/office/drawing/2014/main" id="{F1BA9716-A27F-BB9D-64BE-214447CC6D5F}"/>
              </a:ext>
            </a:extLst>
          </p:cNvPr>
          <p:cNvPicPr>
            <a:picLocks noChangeAspect="1"/>
          </p:cNvPicPr>
          <p:nvPr/>
        </p:nvPicPr>
        <p:blipFill>
          <a:blip r:embed="rId2"/>
          <a:stretch>
            <a:fillRect/>
          </a:stretch>
        </p:blipFill>
        <p:spPr>
          <a:xfrm>
            <a:off x="769602" y="1397272"/>
            <a:ext cx="7520956" cy="4063455"/>
          </a:xfrm>
          <a:prstGeom prst="rect">
            <a:avLst/>
          </a:prstGeom>
        </p:spPr>
      </p:pic>
      <p:sp>
        <p:nvSpPr>
          <p:cNvPr id="6" name="文字方塊 5">
            <a:extLst>
              <a:ext uri="{FF2B5EF4-FFF2-40B4-BE49-F238E27FC236}">
                <a16:creationId xmlns:a16="http://schemas.microsoft.com/office/drawing/2014/main" id="{767163EE-A523-9303-1E1E-915C0021F067}"/>
              </a:ext>
            </a:extLst>
          </p:cNvPr>
          <p:cNvSpPr txBox="1"/>
          <p:nvPr/>
        </p:nvSpPr>
        <p:spPr>
          <a:xfrm>
            <a:off x="618308" y="372682"/>
            <a:ext cx="6096000" cy="646331"/>
          </a:xfrm>
          <a:prstGeom prst="rect">
            <a:avLst/>
          </a:prstGeom>
          <a:noFill/>
        </p:spPr>
        <p:txBody>
          <a:bodyPr wrap="square">
            <a:spAutoFit/>
          </a:bodyPr>
          <a:lstStyle/>
          <a:p>
            <a:pPr algn="l"/>
            <a:r>
              <a:rPr lang="zh-TW" altLang="en-US" sz="3600" i="0" dirty="0">
                <a:solidFill>
                  <a:srgbClr val="1F2328"/>
                </a:solidFill>
                <a:effectLst/>
                <a:latin typeface="+mj-ea"/>
                <a:ea typeface="+mj-ea"/>
              </a:rPr>
              <a:t>智慧點餐系統安裝教學</a:t>
            </a:r>
          </a:p>
        </p:txBody>
      </p:sp>
      <p:sp>
        <p:nvSpPr>
          <p:cNvPr id="9" name="文字方塊 8">
            <a:extLst>
              <a:ext uri="{FF2B5EF4-FFF2-40B4-BE49-F238E27FC236}">
                <a16:creationId xmlns:a16="http://schemas.microsoft.com/office/drawing/2014/main" id="{7EA9DE85-AD23-E6F9-5B55-5ADCE3DA88E3}"/>
              </a:ext>
            </a:extLst>
          </p:cNvPr>
          <p:cNvSpPr txBox="1"/>
          <p:nvPr/>
        </p:nvSpPr>
        <p:spPr>
          <a:xfrm>
            <a:off x="769602" y="5876501"/>
            <a:ext cx="6096000" cy="369332"/>
          </a:xfrm>
          <a:prstGeom prst="rect">
            <a:avLst/>
          </a:prstGeom>
          <a:noFill/>
        </p:spPr>
        <p:txBody>
          <a:bodyPr wrap="square">
            <a:spAutoFit/>
          </a:bodyPr>
          <a:lstStyle/>
          <a:p>
            <a:r>
              <a:rPr lang="zh-TW" altLang="en-US" dirty="0"/>
              <a:t>之後 重啟電腦</a:t>
            </a:r>
          </a:p>
        </p:txBody>
      </p:sp>
    </p:spTree>
    <p:extLst>
      <p:ext uri="{BB962C8B-B14F-4D97-AF65-F5344CB8AC3E}">
        <p14:creationId xmlns:p14="http://schemas.microsoft.com/office/powerpoint/2010/main" val="15546350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D67B17F3-7409-8DDE-1BAD-E33869FC2112}"/>
              </a:ext>
            </a:extLst>
          </p:cNvPr>
          <p:cNvPicPr>
            <a:picLocks noChangeAspect="1"/>
          </p:cNvPicPr>
          <p:nvPr/>
        </p:nvPicPr>
        <p:blipFill>
          <a:blip r:embed="rId2"/>
          <a:stretch>
            <a:fillRect/>
          </a:stretch>
        </p:blipFill>
        <p:spPr>
          <a:xfrm>
            <a:off x="539933" y="3429000"/>
            <a:ext cx="10836496" cy="2463983"/>
          </a:xfrm>
          <a:prstGeom prst="rect">
            <a:avLst/>
          </a:prstGeom>
        </p:spPr>
      </p:pic>
      <p:sp>
        <p:nvSpPr>
          <p:cNvPr id="3" name="文字方塊 2">
            <a:extLst>
              <a:ext uri="{FF2B5EF4-FFF2-40B4-BE49-F238E27FC236}">
                <a16:creationId xmlns:a16="http://schemas.microsoft.com/office/drawing/2014/main" id="{9B59F6DA-BBA0-3116-DE5B-371CBF6E144B}"/>
              </a:ext>
            </a:extLst>
          </p:cNvPr>
          <p:cNvSpPr txBox="1"/>
          <p:nvPr/>
        </p:nvSpPr>
        <p:spPr>
          <a:xfrm>
            <a:off x="539933" y="289952"/>
            <a:ext cx="10476410" cy="2960875"/>
          </a:xfrm>
          <a:prstGeom prst="rect">
            <a:avLst/>
          </a:prstGeom>
          <a:noFill/>
        </p:spPr>
        <p:txBody>
          <a:bodyPr wrap="square">
            <a:spAutoFit/>
          </a:bodyPr>
          <a:lstStyle/>
          <a:p>
            <a:pPr marL="342900" indent="-342900">
              <a:lnSpc>
                <a:spcPct val="150000"/>
              </a:lnSpc>
              <a:buAutoNum type="arabicPeriod"/>
            </a:pPr>
            <a:r>
              <a:rPr lang="zh-TW" altLang="en-US" dirty="0"/>
              <a:t>打開 </a:t>
            </a:r>
            <a:r>
              <a:rPr lang="en-US" altLang="zh-TW" dirty="0"/>
              <a:t>Windows power shell </a:t>
            </a:r>
          </a:p>
          <a:p>
            <a:pPr marL="342900" indent="-342900">
              <a:lnSpc>
                <a:spcPct val="150000"/>
              </a:lnSpc>
              <a:buAutoNum type="arabicPeriod"/>
            </a:pPr>
            <a:r>
              <a:rPr lang="zh-TW" altLang="en-US"/>
              <a:t>輸入 </a:t>
            </a:r>
            <a:r>
              <a:rPr lang="en-US" altLang="zh-TW"/>
              <a:t>cd </a:t>
            </a:r>
            <a:r>
              <a:rPr lang="en-US" altLang="zh-TW" dirty="0"/>
              <a:t>Desktop</a:t>
            </a:r>
          </a:p>
          <a:p>
            <a:pPr marL="342900" indent="-342900">
              <a:lnSpc>
                <a:spcPct val="150000"/>
              </a:lnSpc>
              <a:buAutoNum type="arabicPeriod"/>
            </a:pPr>
            <a:r>
              <a:rPr lang="zh-TW" altLang="en-US"/>
              <a:t>輸入 </a:t>
            </a:r>
            <a:r>
              <a:rPr lang="en-US" altLang="zh-TW"/>
              <a:t>git </a:t>
            </a:r>
            <a:r>
              <a:rPr lang="en-US" altLang="zh-TW" dirty="0"/>
              <a:t>clone </a:t>
            </a:r>
            <a:r>
              <a:rPr lang="en-US" altLang="zh-TW" dirty="0">
                <a:hlinkClick r:id="rId3"/>
              </a:rPr>
              <a:t>https://github.com/alenzenx/smart-ordering-system</a:t>
            </a:r>
            <a:r>
              <a:rPr lang="en-US" altLang="zh-TW">
                <a:hlinkClick r:id="rId3"/>
              </a:rPr>
              <a:t>.git</a:t>
            </a:r>
            <a:endParaRPr lang="en-US" altLang="zh-TW"/>
          </a:p>
          <a:p>
            <a:pPr marL="342900" indent="-342900">
              <a:lnSpc>
                <a:spcPct val="150000"/>
              </a:lnSpc>
              <a:buFontTx/>
              <a:buAutoNum type="arabicPeriod"/>
            </a:pPr>
            <a:r>
              <a:rPr lang="zh-TW" altLang="en-US"/>
              <a:t>用 </a:t>
            </a:r>
            <a:r>
              <a:rPr lang="en-US" altLang="zh-TW"/>
              <a:t>vscode </a:t>
            </a:r>
            <a:r>
              <a:rPr lang="zh-TW" altLang="en-US"/>
              <a:t>開啟桌面上的 </a:t>
            </a:r>
            <a:r>
              <a:rPr lang="en-US" altLang="zh-TW"/>
              <a:t>smart-ordering-system</a:t>
            </a:r>
            <a:r>
              <a:rPr lang="zh-TW" altLang="en-US"/>
              <a:t> 資料夾</a:t>
            </a:r>
          </a:p>
          <a:p>
            <a:pPr marL="342900" indent="-342900">
              <a:lnSpc>
                <a:spcPct val="150000"/>
              </a:lnSpc>
              <a:buFontTx/>
              <a:buAutoNum type="arabicPeriod"/>
            </a:pPr>
            <a:r>
              <a:rPr lang="en-US" altLang="zh-TW"/>
              <a:t>vscode </a:t>
            </a:r>
            <a:r>
              <a:rPr lang="zh-TW" altLang="en-US"/>
              <a:t>按下   </a:t>
            </a:r>
            <a:r>
              <a:rPr lang="en-US" altLang="zh-TW"/>
              <a:t>ctrl + `</a:t>
            </a:r>
            <a:r>
              <a:rPr lang="zh-TW" altLang="en-US"/>
              <a:t>  開啟 </a:t>
            </a:r>
            <a:r>
              <a:rPr lang="en-US" altLang="zh-TW"/>
              <a:t>vscode</a:t>
            </a:r>
            <a:r>
              <a:rPr lang="zh-TW" altLang="en-US"/>
              <a:t> 終端機</a:t>
            </a:r>
          </a:p>
          <a:p>
            <a:pPr marL="342900" indent="-342900">
              <a:lnSpc>
                <a:spcPct val="150000"/>
              </a:lnSpc>
              <a:buFontTx/>
              <a:buAutoNum type="arabicPeriod"/>
            </a:pPr>
            <a:r>
              <a:rPr lang="en-US" altLang="zh-TW"/>
              <a:t>vscode</a:t>
            </a:r>
            <a:r>
              <a:rPr lang="zh-TW" altLang="en-US"/>
              <a:t> 終端機輸入 </a:t>
            </a:r>
            <a:r>
              <a:rPr lang="en-US" altLang="zh-TW"/>
              <a:t>docker compose up --build –d</a:t>
            </a:r>
          </a:p>
          <a:p>
            <a:pPr marL="342900" indent="-342900">
              <a:lnSpc>
                <a:spcPct val="150000"/>
              </a:lnSpc>
              <a:buFontTx/>
              <a:buAutoNum type="arabicPeriod"/>
            </a:pPr>
            <a:r>
              <a:rPr lang="zh-TW" altLang="en-US"/>
              <a:t>等待完成</a:t>
            </a:r>
          </a:p>
        </p:txBody>
      </p:sp>
    </p:spTree>
    <p:extLst>
      <p:ext uri="{BB962C8B-B14F-4D97-AF65-F5344CB8AC3E}">
        <p14:creationId xmlns:p14="http://schemas.microsoft.com/office/powerpoint/2010/main" val="8789966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字方塊 1">
            <a:extLst>
              <a:ext uri="{FF2B5EF4-FFF2-40B4-BE49-F238E27FC236}">
                <a16:creationId xmlns:a16="http://schemas.microsoft.com/office/drawing/2014/main" id="{00618A45-085B-619F-A9EA-9ACF05EB714E}"/>
              </a:ext>
            </a:extLst>
          </p:cNvPr>
          <p:cNvSpPr txBox="1"/>
          <p:nvPr/>
        </p:nvSpPr>
        <p:spPr>
          <a:xfrm>
            <a:off x="618308" y="372682"/>
            <a:ext cx="3846116" cy="646331"/>
          </a:xfrm>
          <a:prstGeom prst="rect">
            <a:avLst/>
          </a:prstGeom>
          <a:noFill/>
        </p:spPr>
        <p:txBody>
          <a:bodyPr wrap="square">
            <a:spAutoFit/>
          </a:bodyPr>
          <a:lstStyle/>
          <a:p>
            <a:pPr algn="l"/>
            <a:r>
              <a:rPr lang="en-US" altLang="zh-TW" sz="3600" i="0" dirty="0">
                <a:solidFill>
                  <a:srgbClr val="1F2328"/>
                </a:solidFill>
                <a:effectLst/>
                <a:latin typeface="+mj-ea"/>
                <a:ea typeface="+mj-ea"/>
              </a:rPr>
              <a:t>Gemini CLI</a:t>
            </a:r>
            <a:r>
              <a:rPr lang="zh-TW" altLang="en-US" sz="3600" i="0" dirty="0">
                <a:solidFill>
                  <a:srgbClr val="1F2328"/>
                </a:solidFill>
                <a:effectLst/>
                <a:latin typeface="+mj-ea"/>
                <a:ea typeface="+mj-ea"/>
              </a:rPr>
              <a:t> 登入</a:t>
            </a:r>
          </a:p>
        </p:txBody>
      </p:sp>
      <p:sp>
        <p:nvSpPr>
          <p:cNvPr id="4" name="文字方塊 3">
            <a:extLst>
              <a:ext uri="{FF2B5EF4-FFF2-40B4-BE49-F238E27FC236}">
                <a16:creationId xmlns:a16="http://schemas.microsoft.com/office/drawing/2014/main" id="{575D7D6B-3C34-A8DE-F078-E3FA9E506CB4}"/>
              </a:ext>
            </a:extLst>
          </p:cNvPr>
          <p:cNvSpPr txBox="1"/>
          <p:nvPr/>
        </p:nvSpPr>
        <p:spPr>
          <a:xfrm>
            <a:off x="975361" y="1236617"/>
            <a:ext cx="2996333" cy="369332"/>
          </a:xfrm>
          <a:prstGeom prst="rect">
            <a:avLst/>
          </a:prstGeom>
          <a:noFill/>
        </p:spPr>
        <p:txBody>
          <a:bodyPr wrap="none" rtlCol="0">
            <a:spAutoFit/>
          </a:bodyPr>
          <a:lstStyle/>
          <a:p>
            <a:r>
              <a:rPr lang="en-US" altLang="zh-TW" dirty="0"/>
              <a:t>1. </a:t>
            </a:r>
            <a:r>
              <a:rPr lang="zh-TW" altLang="en-US"/>
              <a:t>打開 命令提示字元 </a:t>
            </a:r>
            <a:r>
              <a:rPr lang="en-US" altLang="zh-TW"/>
              <a:t>(CMD)</a:t>
            </a:r>
            <a:endParaRPr lang="zh-TW" altLang="en-US" dirty="0"/>
          </a:p>
        </p:txBody>
      </p:sp>
      <p:pic>
        <p:nvPicPr>
          <p:cNvPr id="6" name="圖片 5">
            <a:extLst>
              <a:ext uri="{FF2B5EF4-FFF2-40B4-BE49-F238E27FC236}">
                <a16:creationId xmlns:a16="http://schemas.microsoft.com/office/drawing/2014/main" id="{570043B8-0ECE-8E0D-97AB-99AF54BEEA63}"/>
              </a:ext>
            </a:extLst>
          </p:cNvPr>
          <p:cNvPicPr>
            <a:picLocks noChangeAspect="1"/>
          </p:cNvPicPr>
          <p:nvPr/>
        </p:nvPicPr>
        <p:blipFill>
          <a:blip r:embed="rId2"/>
          <a:stretch>
            <a:fillRect/>
          </a:stretch>
        </p:blipFill>
        <p:spPr>
          <a:xfrm>
            <a:off x="4977621" y="1236617"/>
            <a:ext cx="5449868" cy="5305065"/>
          </a:xfrm>
          <a:prstGeom prst="rect">
            <a:avLst/>
          </a:prstGeom>
        </p:spPr>
      </p:pic>
    </p:spTree>
    <p:extLst>
      <p:ext uri="{BB962C8B-B14F-4D97-AF65-F5344CB8AC3E}">
        <p14:creationId xmlns:p14="http://schemas.microsoft.com/office/powerpoint/2010/main" val="39091571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字方塊 3">
            <a:extLst>
              <a:ext uri="{FF2B5EF4-FFF2-40B4-BE49-F238E27FC236}">
                <a16:creationId xmlns:a16="http://schemas.microsoft.com/office/drawing/2014/main" id="{55FA1EFE-2A10-C0CF-B48E-EBFBAB8AB10B}"/>
              </a:ext>
            </a:extLst>
          </p:cNvPr>
          <p:cNvSpPr txBox="1"/>
          <p:nvPr/>
        </p:nvSpPr>
        <p:spPr>
          <a:xfrm>
            <a:off x="823121" y="92346"/>
            <a:ext cx="4961417" cy="2958887"/>
          </a:xfrm>
          <a:prstGeom prst="rect">
            <a:avLst/>
          </a:prstGeom>
          <a:noFill/>
        </p:spPr>
        <p:txBody>
          <a:bodyPr wrap="square" rtlCol="0">
            <a:spAutoFit/>
          </a:bodyPr>
          <a:lstStyle/>
          <a:p>
            <a:pPr>
              <a:lnSpc>
                <a:spcPct val="150000"/>
              </a:lnSpc>
            </a:pPr>
            <a:r>
              <a:rPr lang="en-US" altLang="zh-TW"/>
              <a:t>2.</a:t>
            </a:r>
            <a:r>
              <a:rPr lang="zh-TW" altLang="en-US"/>
              <a:t> 用命令提示字元 </a:t>
            </a:r>
            <a:r>
              <a:rPr lang="en-US" altLang="zh-TW"/>
              <a:t>(CMD)</a:t>
            </a:r>
            <a:r>
              <a:rPr lang="zh-TW" altLang="en-US"/>
              <a:t> 開啟 </a:t>
            </a:r>
            <a:r>
              <a:rPr lang="en-US" altLang="zh-TW"/>
              <a:t>gemini</a:t>
            </a:r>
            <a:endParaRPr lang="en-US" altLang="zh-TW" dirty="0"/>
          </a:p>
          <a:p>
            <a:pPr marL="342900" indent="-342900">
              <a:lnSpc>
                <a:spcPct val="150000"/>
              </a:lnSpc>
              <a:buFont typeface="+mj-lt"/>
              <a:buAutoNum type="arabicParenR"/>
            </a:pPr>
            <a:r>
              <a:rPr lang="zh-TW" altLang="en-US"/>
              <a:t>輸入 </a:t>
            </a:r>
            <a:r>
              <a:rPr lang="en-US" altLang="zh-TW"/>
              <a:t>docker container list</a:t>
            </a:r>
          </a:p>
          <a:p>
            <a:pPr marL="342900" indent="-342900">
              <a:lnSpc>
                <a:spcPct val="150000"/>
              </a:lnSpc>
              <a:buFont typeface="+mj-lt"/>
              <a:buAutoNum type="arabicParenR"/>
            </a:pPr>
            <a:r>
              <a:rPr lang="zh-TW" altLang="en-US"/>
              <a:t>找到</a:t>
            </a:r>
            <a:r>
              <a:rPr lang="en-US" altLang="zh-TW"/>
              <a:t> smart-ordering-system-backend </a:t>
            </a:r>
            <a:r>
              <a:rPr lang="zh-TW" altLang="en-US"/>
              <a:t>的 </a:t>
            </a:r>
            <a:r>
              <a:rPr lang="en-US" altLang="zh-TW"/>
              <a:t>CONTAINER ID </a:t>
            </a:r>
            <a:r>
              <a:rPr lang="zh-TW" altLang="en-US"/>
              <a:t>的前三碼，像這邊是 </a:t>
            </a:r>
            <a:r>
              <a:rPr lang="en-US" altLang="zh-TW">
                <a:solidFill>
                  <a:srgbClr val="FF0000"/>
                </a:solidFill>
              </a:rPr>
              <a:t>114</a:t>
            </a:r>
            <a:endParaRPr lang="en-US" altLang="zh-TW" dirty="0"/>
          </a:p>
          <a:p>
            <a:pPr marL="342900" indent="-342900">
              <a:lnSpc>
                <a:spcPct val="150000"/>
              </a:lnSpc>
              <a:buFont typeface="+mj-lt"/>
              <a:buAutoNum type="arabicParenR"/>
            </a:pPr>
            <a:r>
              <a:rPr lang="zh-TW" altLang="en-US"/>
              <a:t>輸入 </a:t>
            </a:r>
            <a:r>
              <a:rPr lang="en-US" altLang="zh-TW"/>
              <a:t>docker </a:t>
            </a:r>
            <a:r>
              <a:rPr lang="en-US" altLang="zh-TW" dirty="0"/>
              <a:t>container </a:t>
            </a:r>
            <a:r>
              <a:rPr lang="en-US" altLang="zh-TW"/>
              <a:t>exec -it </a:t>
            </a:r>
            <a:r>
              <a:rPr lang="en-US" altLang="zh-TW">
                <a:solidFill>
                  <a:srgbClr val="FF0000"/>
                </a:solidFill>
              </a:rPr>
              <a:t>114</a:t>
            </a:r>
            <a:r>
              <a:rPr lang="en-US" altLang="zh-TW"/>
              <a:t> /</a:t>
            </a:r>
            <a:r>
              <a:rPr lang="en-US" altLang="zh-TW" dirty="0"/>
              <a:t>bin</a:t>
            </a:r>
            <a:r>
              <a:rPr lang="en-US" altLang="zh-TW"/>
              <a:t>/bash</a:t>
            </a:r>
            <a:r>
              <a:rPr lang="zh-TW" altLang="en-US"/>
              <a:t>  讓 </a:t>
            </a:r>
            <a:r>
              <a:rPr lang="en-US" altLang="zh-TW"/>
              <a:t>smart-ordering-system-backend </a:t>
            </a:r>
            <a:r>
              <a:rPr lang="zh-TW" altLang="en-US"/>
              <a:t>可以修改</a:t>
            </a:r>
            <a:endParaRPr lang="en-US" altLang="zh-TW" dirty="0"/>
          </a:p>
          <a:p>
            <a:pPr marL="342900" indent="-342900">
              <a:lnSpc>
                <a:spcPct val="150000"/>
              </a:lnSpc>
              <a:buFont typeface="+mj-lt"/>
              <a:buAutoNum type="arabicParenR"/>
            </a:pPr>
            <a:r>
              <a:rPr lang="zh-TW" altLang="en-US"/>
              <a:t>輸入 </a:t>
            </a:r>
            <a:r>
              <a:rPr lang="en-US" altLang="zh-TW"/>
              <a:t>gemini</a:t>
            </a:r>
            <a:endParaRPr lang="zh-TW" altLang="en-US" dirty="0"/>
          </a:p>
        </p:txBody>
      </p:sp>
      <p:pic>
        <p:nvPicPr>
          <p:cNvPr id="9" name="圖片 8">
            <a:extLst>
              <a:ext uri="{FF2B5EF4-FFF2-40B4-BE49-F238E27FC236}">
                <a16:creationId xmlns:a16="http://schemas.microsoft.com/office/drawing/2014/main" id="{1209D341-BBE1-4E5F-9F37-C88C4BE0D2CE}"/>
              </a:ext>
            </a:extLst>
          </p:cNvPr>
          <p:cNvPicPr>
            <a:picLocks noChangeAspect="1"/>
          </p:cNvPicPr>
          <p:nvPr/>
        </p:nvPicPr>
        <p:blipFill>
          <a:blip r:embed="rId2"/>
          <a:stretch>
            <a:fillRect/>
          </a:stretch>
        </p:blipFill>
        <p:spPr>
          <a:xfrm>
            <a:off x="2824977" y="3124835"/>
            <a:ext cx="5157515" cy="3640819"/>
          </a:xfrm>
          <a:prstGeom prst="rect">
            <a:avLst/>
          </a:prstGeom>
        </p:spPr>
      </p:pic>
      <p:pic>
        <p:nvPicPr>
          <p:cNvPr id="11" name="圖片 10">
            <a:extLst>
              <a:ext uri="{FF2B5EF4-FFF2-40B4-BE49-F238E27FC236}">
                <a16:creationId xmlns:a16="http://schemas.microsoft.com/office/drawing/2014/main" id="{8C7497EF-8AF4-4C87-B33C-91AC77141A13}"/>
              </a:ext>
            </a:extLst>
          </p:cNvPr>
          <p:cNvPicPr>
            <a:picLocks noChangeAspect="1"/>
          </p:cNvPicPr>
          <p:nvPr/>
        </p:nvPicPr>
        <p:blipFill>
          <a:blip r:embed="rId3"/>
          <a:stretch>
            <a:fillRect/>
          </a:stretch>
        </p:blipFill>
        <p:spPr>
          <a:xfrm>
            <a:off x="6211258" y="231576"/>
            <a:ext cx="4544677" cy="3362360"/>
          </a:xfrm>
          <a:prstGeom prst="rect">
            <a:avLst/>
          </a:prstGeom>
        </p:spPr>
      </p:pic>
      <p:sp>
        <p:nvSpPr>
          <p:cNvPr id="16" name="文字方塊 15">
            <a:extLst>
              <a:ext uri="{FF2B5EF4-FFF2-40B4-BE49-F238E27FC236}">
                <a16:creationId xmlns:a16="http://schemas.microsoft.com/office/drawing/2014/main" id="{93D1CB10-878C-4AF5-9475-94FDB656B104}"/>
              </a:ext>
            </a:extLst>
          </p:cNvPr>
          <p:cNvSpPr txBox="1"/>
          <p:nvPr/>
        </p:nvSpPr>
        <p:spPr>
          <a:xfrm>
            <a:off x="823121" y="5057123"/>
            <a:ext cx="1534331" cy="369332"/>
          </a:xfrm>
          <a:prstGeom prst="rect">
            <a:avLst/>
          </a:prstGeom>
          <a:noFill/>
        </p:spPr>
        <p:txBody>
          <a:bodyPr wrap="none" rtlCol="0">
            <a:spAutoFit/>
          </a:bodyPr>
          <a:lstStyle/>
          <a:p>
            <a:r>
              <a:rPr lang="zh-TW" altLang="en-US"/>
              <a:t>選</a:t>
            </a:r>
            <a:r>
              <a:rPr lang="en-US" altLang="zh-TW"/>
              <a:t>google</a:t>
            </a:r>
            <a:r>
              <a:rPr lang="zh-TW" altLang="en-US"/>
              <a:t>登入</a:t>
            </a:r>
            <a:endParaRPr lang="zh-TW" altLang="en-US" dirty="0"/>
          </a:p>
        </p:txBody>
      </p:sp>
      <p:sp>
        <p:nvSpPr>
          <p:cNvPr id="2" name="矩形 1">
            <a:extLst>
              <a:ext uri="{FF2B5EF4-FFF2-40B4-BE49-F238E27FC236}">
                <a16:creationId xmlns:a16="http://schemas.microsoft.com/office/drawing/2014/main" id="{54B95B97-62D4-FD39-1349-118F0161F921}"/>
              </a:ext>
            </a:extLst>
          </p:cNvPr>
          <p:cNvSpPr/>
          <p:nvPr/>
        </p:nvSpPr>
        <p:spPr>
          <a:xfrm>
            <a:off x="6338047" y="3075672"/>
            <a:ext cx="2734236" cy="51826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矩形 2">
            <a:extLst>
              <a:ext uri="{FF2B5EF4-FFF2-40B4-BE49-F238E27FC236}">
                <a16:creationId xmlns:a16="http://schemas.microsoft.com/office/drawing/2014/main" id="{191B2364-E3EA-C375-EDB7-636ADC2DDE5D}"/>
              </a:ext>
            </a:extLst>
          </p:cNvPr>
          <p:cNvSpPr/>
          <p:nvPr/>
        </p:nvSpPr>
        <p:spPr>
          <a:xfrm>
            <a:off x="3182470" y="5976502"/>
            <a:ext cx="4544676" cy="58270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1013565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圖片 1">
            <a:extLst>
              <a:ext uri="{FF2B5EF4-FFF2-40B4-BE49-F238E27FC236}">
                <a16:creationId xmlns:a16="http://schemas.microsoft.com/office/drawing/2014/main" id="{F4153BF3-9866-48CD-8F3D-D0664F3CED4B}"/>
              </a:ext>
            </a:extLst>
          </p:cNvPr>
          <p:cNvPicPr>
            <a:picLocks noChangeAspect="1"/>
          </p:cNvPicPr>
          <p:nvPr/>
        </p:nvPicPr>
        <p:blipFill>
          <a:blip r:embed="rId2"/>
          <a:stretch>
            <a:fillRect/>
          </a:stretch>
        </p:blipFill>
        <p:spPr>
          <a:xfrm>
            <a:off x="211666" y="1091098"/>
            <a:ext cx="11723159" cy="1228768"/>
          </a:xfrm>
          <a:prstGeom prst="rect">
            <a:avLst/>
          </a:prstGeom>
        </p:spPr>
      </p:pic>
      <p:sp>
        <p:nvSpPr>
          <p:cNvPr id="3" name="文字方塊 2">
            <a:extLst>
              <a:ext uri="{FF2B5EF4-FFF2-40B4-BE49-F238E27FC236}">
                <a16:creationId xmlns:a16="http://schemas.microsoft.com/office/drawing/2014/main" id="{0BEDC45B-D7B9-4F55-9F26-F25826D51517}"/>
              </a:ext>
            </a:extLst>
          </p:cNvPr>
          <p:cNvSpPr txBox="1"/>
          <p:nvPr/>
        </p:nvSpPr>
        <p:spPr>
          <a:xfrm>
            <a:off x="284641" y="469294"/>
            <a:ext cx="1784463" cy="369332"/>
          </a:xfrm>
          <a:prstGeom prst="rect">
            <a:avLst/>
          </a:prstGeom>
          <a:noFill/>
        </p:spPr>
        <p:txBody>
          <a:bodyPr wrap="none" rtlCol="0">
            <a:spAutoFit/>
          </a:bodyPr>
          <a:lstStyle/>
          <a:p>
            <a:r>
              <a:rPr lang="en-US" altLang="zh-TW" dirty="0"/>
              <a:t>3. Ctrl+</a:t>
            </a:r>
            <a:r>
              <a:rPr lang="zh-TW" altLang="en-US" dirty="0"/>
              <a:t>左鍵點擊</a:t>
            </a:r>
          </a:p>
        </p:txBody>
      </p:sp>
      <p:cxnSp>
        <p:nvCxnSpPr>
          <p:cNvPr id="5" name="直線單箭頭接點 4">
            <a:extLst>
              <a:ext uri="{FF2B5EF4-FFF2-40B4-BE49-F238E27FC236}">
                <a16:creationId xmlns:a16="http://schemas.microsoft.com/office/drawing/2014/main" id="{106571C5-C866-4918-B69B-9FE3C36F059F}"/>
              </a:ext>
            </a:extLst>
          </p:cNvPr>
          <p:cNvCxnSpPr>
            <a:cxnSpLocks/>
            <a:stCxn id="3" idx="3"/>
          </p:cNvCxnSpPr>
          <p:nvPr/>
        </p:nvCxnSpPr>
        <p:spPr>
          <a:xfrm>
            <a:off x="2069104" y="653960"/>
            <a:ext cx="2386355" cy="798322"/>
          </a:xfrm>
          <a:prstGeom prst="straightConnector1">
            <a:avLst/>
          </a:prstGeom>
          <a:ln w="76200">
            <a:solidFill>
              <a:srgbClr val="FF0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pic>
        <p:nvPicPr>
          <p:cNvPr id="6" name="圖片 5">
            <a:extLst>
              <a:ext uri="{FF2B5EF4-FFF2-40B4-BE49-F238E27FC236}">
                <a16:creationId xmlns:a16="http://schemas.microsoft.com/office/drawing/2014/main" id="{881C1303-FBBE-4673-A9F9-0901F169698C}"/>
              </a:ext>
            </a:extLst>
          </p:cNvPr>
          <p:cNvPicPr>
            <a:picLocks noChangeAspect="1"/>
          </p:cNvPicPr>
          <p:nvPr/>
        </p:nvPicPr>
        <p:blipFill>
          <a:blip r:embed="rId3"/>
          <a:stretch>
            <a:fillRect/>
          </a:stretch>
        </p:blipFill>
        <p:spPr>
          <a:xfrm>
            <a:off x="4233845" y="2757004"/>
            <a:ext cx="3524742" cy="3925019"/>
          </a:xfrm>
          <a:prstGeom prst="rect">
            <a:avLst/>
          </a:prstGeom>
        </p:spPr>
      </p:pic>
      <p:sp>
        <p:nvSpPr>
          <p:cNvPr id="7" name="文字方塊 6">
            <a:extLst>
              <a:ext uri="{FF2B5EF4-FFF2-40B4-BE49-F238E27FC236}">
                <a16:creationId xmlns:a16="http://schemas.microsoft.com/office/drawing/2014/main" id="{5C798FA5-4ED4-46D6-A931-99888303BF9C}"/>
              </a:ext>
            </a:extLst>
          </p:cNvPr>
          <p:cNvSpPr txBox="1"/>
          <p:nvPr/>
        </p:nvSpPr>
        <p:spPr>
          <a:xfrm>
            <a:off x="2802481" y="5491808"/>
            <a:ext cx="1347292" cy="369332"/>
          </a:xfrm>
          <a:prstGeom prst="rect">
            <a:avLst/>
          </a:prstGeom>
          <a:noFill/>
        </p:spPr>
        <p:txBody>
          <a:bodyPr wrap="none" rtlCol="0">
            <a:spAutoFit/>
          </a:bodyPr>
          <a:lstStyle/>
          <a:p>
            <a:r>
              <a:rPr lang="en-US" altLang="zh-TW" dirty="0"/>
              <a:t>Copy</a:t>
            </a:r>
            <a:r>
              <a:rPr lang="zh-TW" altLang="en-US" dirty="0"/>
              <a:t>驗證碼</a:t>
            </a:r>
          </a:p>
        </p:txBody>
      </p:sp>
    </p:spTree>
    <p:extLst>
      <p:ext uri="{BB962C8B-B14F-4D97-AF65-F5344CB8AC3E}">
        <p14:creationId xmlns:p14="http://schemas.microsoft.com/office/powerpoint/2010/main" val="24876814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9D832686-9A46-4F7D-BB3E-711633720360}"/>
              </a:ext>
            </a:extLst>
          </p:cNvPr>
          <p:cNvPicPr>
            <a:picLocks noChangeAspect="1"/>
          </p:cNvPicPr>
          <p:nvPr/>
        </p:nvPicPr>
        <p:blipFill>
          <a:blip r:embed="rId2"/>
          <a:stretch>
            <a:fillRect/>
          </a:stretch>
        </p:blipFill>
        <p:spPr>
          <a:xfrm>
            <a:off x="250166" y="766987"/>
            <a:ext cx="11694184" cy="993565"/>
          </a:xfrm>
          <a:prstGeom prst="rect">
            <a:avLst/>
          </a:prstGeom>
        </p:spPr>
      </p:pic>
      <p:sp>
        <p:nvSpPr>
          <p:cNvPr id="8" name="文字方塊 7">
            <a:extLst>
              <a:ext uri="{FF2B5EF4-FFF2-40B4-BE49-F238E27FC236}">
                <a16:creationId xmlns:a16="http://schemas.microsoft.com/office/drawing/2014/main" id="{0420CB66-2E71-48B3-A799-163D02B28A72}"/>
              </a:ext>
            </a:extLst>
          </p:cNvPr>
          <p:cNvSpPr txBox="1"/>
          <p:nvPr/>
        </p:nvSpPr>
        <p:spPr>
          <a:xfrm>
            <a:off x="250166" y="293184"/>
            <a:ext cx="1574470" cy="369332"/>
          </a:xfrm>
          <a:prstGeom prst="rect">
            <a:avLst/>
          </a:prstGeom>
          <a:noFill/>
        </p:spPr>
        <p:txBody>
          <a:bodyPr wrap="none" rtlCol="0">
            <a:spAutoFit/>
          </a:bodyPr>
          <a:lstStyle/>
          <a:p>
            <a:r>
              <a:rPr lang="en-US" altLang="zh-TW" dirty="0"/>
              <a:t>3. </a:t>
            </a:r>
            <a:r>
              <a:rPr lang="zh-TW" altLang="en-US"/>
              <a:t>貼上驗證</a:t>
            </a:r>
            <a:r>
              <a:rPr lang="zh-TW" altLang="en-US" dirty="0"/>
              <a:t>碼</a:t>
            </a:r>
          </a:p>
        </p:txBody>
      </p:sp>
      <p:pic>
        <p:nvPicPr>
          <p:cNvPr id="10" name="圖片 9">
            <a:extLst>
              <a:ext uri="{FF2B5EF4-FFF2-40B4-BE49-F238E27FC236}">
                <a16:creationId xmlns:a16="http://schemas.microsoft.com/office/drawing/2014/main" id="{6D6B2A89-AAAC-4945-9FC4-184F579BE096}"/>
              </a:ext>
            </a:extLst>
          </p:cNvPr>
          <p:cNvPicPr>
            <a:picLocks noChangeAspect="1"/>
          </p:cNvPicPr>
          <p:nvPr/>
        </p:nvPicPr>
        <p:blipFill>
          <a:blip r:embed="rId3"/>
          <a:stretch>
            <a:fillRect/>
          </a:stretch>
        </p:blipFill>
        <p:spPr>
          <a:xfrm>
            <a:off x="250166" y="2838229"/>
            <a:ext cx="11694184" cy="3726587"/>
          </a:xfrm>
          <a:prstGeom prst="rect">
            <a:avLst/>
          </a:prstGeom>
        </p:spPr>
      </p:pic>
      <p:sp>
        <p:nvSpPr>
          <p:cNvPr id="11" name="文字方塊 10">
            <a:extLst>
              <a:ext uri="{FF2B5EF4-FFF2-40B4-BE49-F238E27FC236}">
                <a16:creationId xmlns:a16="http://schemas.microsoft.com/office/drawing/2014/main" id="{C52AAB4A-93D3-43B0-85C5-5C98AEFC7086}"/>
              </a:ext>
            </a:extLst>
          </p:cNvPr>
          <p:cNvSpPr txBox="1"/>
          <p:nvPr/>
        </p:nvSpPr>
        <p:spPr>
          <a:xfrm>
            <a:off x="250166" y="2364426"/>
            <a:ext cx="5044971" cy="369332"/>
          </a:xfrm>
          <a:prstGeom prst="rect">
            <a:avLst/>
          </a:prstGeom>
          <a:noFill/>
        </p:spPr>
        <p:txBody>
          <a:bodyPr wrap="none" rtlCol="0">
            <a:spAutoFit/>
          </a:bodyPr>
          <a:lstStyle/>
          <a:p>
            <a:r>
              <a:rPr lang="zh-TW" altLang="en-US" dirty="0"/>
              <a:t>出現以下進入</a:t>
            </a:r>
            <a:r>
              <a:rPr lang="zh-TW" altLang="en-US"/>
              <a:t>成功畫面代表 </a:t>
            </a:r>
            <a:r>
              <a:rPr lang="en-US" altLang="zh-TW" sz="1800" i="0">
                <a:solidFill>
                  <a:srgbClr val="1F2328"/>
                </a:solidFill>
                <a:effectLst/>
                <a:latin typeface="+mj-ea"/>
                <a:ea typeface="+mj-ea"/>
              </a:rPr>
              <a:t>Gemini CLI</a:t>
            </a:r>
            <a:r>
              <a:rPr lang="zh-TW" altLang="en-US" sz="1800" i="0">
                <a:solidFill>
                  <a:srgbClr val="1F2328"/>
                </a:solidFill>
                <a:effectLst/>
                <a:latin typeface="+mj-ea"/>
                <a:ea typeface="+mj-ea"/>
              </a:rPr>
              <a:t> </a:t>
            </a:r>
            <a:r>
              <a:rPr lang="zh-TW" altLang="en-US"/>
              <a:t>登入完成</a:t>
            </a:r>
            <a:endParaRPr lang="zh-TW" altLang="en-US" dirty="0"/>
          </a:p>
        </p:txBody>
      </p:sp>
      <p:cxnSp>
        <p:nvCxnSpPr>
          <p:cNvPr id="3" name="直線單箭頭接點 2">
            <a:extLst>
              <a:ext uri="{FF2B5EF4-FFF2-40B4-BE49-F238E27FC236}">
                <a16:creationId xmlns:a16="http://schemas.microsoft.com/office/drawing/2014/main" id="{F3C9E0DD-2F18-C072-665E-A225F76B18D4}"/>
              </a:ext>
            </a:extLst>
          </p:cNvPr>
          <p:cNvCxnSpPr>
            <a:cxnSpLocks/>
            <a:stCxn id="8" idx="3"/>
          </p:cNvCxnSpPr>
          <p:nvPr/>
        </p:nvCxnSpPr>
        <p:spPr>
          <a:xfrm>
            <a:off x="1824636" y="477850"/>
            <a:ext cx="547089" cy="993565"/>
          </a:xfrm>
          <a:prstGeom prst="straightConnector1">
            <a:avLst/>
          </a:prstGeom>
          <a:ln w="38100">
            <a:solidFill>
              <a:srgbClr val="FF0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35837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字方塊 3">
            <a:extLst>
              <a:ext uri="{FF2B5EF4-FFF2-40B4-BE49-F238E27FC236}">
                <a16:creationId xmlns:a16="http://schemas.microsoft.com/office/drawing/2014/main" id="{C3558DA0-B416-C7C5-DCD6-5827197DC870}"/>
              </a:ext>
            </a:extLst>
          </p:cNvPr>
          <p:cNvSpPr txBox="1"/>
          <p:nvPr/>
        </p:nvSpPr>
        <p:spPr>
          <a:xfrm>
            <a:off x="838200" y="701799"/>
            <a:ext cx="6096000" cy="369332"/>
          </a:xfrm>
          <a:prstGeom prst="rect">
            <a:avLst/>
          </a:prstGeom>
          <a:noFill/>
        </p:spPr>
        <p:txBody>
          <a:bodyPr wrap="square">
            <a:spAutoFit/>
          </a:bodyPr>
          <a:lstStyle/>
          <a:p>
            <a:r>
              <a:rPr lang="zh-TW" altLang="en-US"/>
              <a:t>輸入 </a:t>
            </a:r>
            <a:r>
              <a:rPr lang="en-US" altLang="zh-TW"/>
              <a:t>docker </a:t>
            </a:r>
            <a:r>
              <a:rPr lang="en-US" altLang="zh-TW" dirty="0"/>
              <a:t>compose up --</a:t>
            </a:r>
            <a:r>
              <a:rPr lang="en-US" altLang="zh-TW"/>
              <a:t>build -d</a:t>
            </a:r>
            <a:r>
              <a:rPr lang="zh-TW" altLang="en-US"/>
              <a:t> 進行重建</a:t>
            </a:r>
          </a:p>
        </p:txBody>
      </p:sp>
      <p:sp>
        <p:nvSpPr>
          <p:cNvPr id="5" name="文字方塊 4">
            <a:extLst>
              <a:ext uri="{FF2B5EF4-FFF2-40B4-BE49-F238E27FC236}">
                <a16:creationId xmlns:a16="http://schemas.microsoft.com/office/drawing/2014/main" id="{4493FA30-5C64-D934-0D42-F596E0C96403}"/>
              </a:ext>
            </a:extLst>
          </p:cNvPr>
          <p:cNvSpPr txBox="1"/>
          <p:nvPr/>
        </p:nvSpPr>
        <p:spPr>
          <a:xfrm>
            <a:off x="522515" y="238484"/>
            <a:ext cx="6096000" cy="369332"/>
          </a:xfrm>
          <a:prstGeom prst="rect">
            <a:avLst/>
          </a:prstGeom>
          <a:noFill/>
        </p:spPr>
        <p:txBody>
          <a:bodyPr wrap="square">
            <a:spAutoFit/>
          </a:bodyPr>
          <a:lstStyle/>
          <a:p>
            <a:r>
              <a:rPr lang="en-US" altLang="zh-TW" dirty="0"/>
              <a:t>4</a:t>
            </a:r>
            <a:r>
              <a:rPr lang="en-US" altLang="zh-TW"/>
              <a:t>. </a:t>
            </a:r>
            <a:r>
              <a:rPr lang="zh-TW" altLang="en-US"/>
              <a:t>回到 </a:t>
            </a:r>
            <a:r>
              <a:rPr lang="en-US" altLang="zh-TW"/>
              <a:t>vscode </a:t>
            </a:r>
            <a:r>
              <a:rPr lang="zh-TW" altLang="en-US"/>
              <a:t>按下  </a:t>
            </a:r>
            <a:r>
              <a:rPr lang="en-US" altLang="zh-TW"/>
              <a:t>ctrl + `</a:t>
            </a:r>
            <a:r>
              <a:rPr lang="zh-TW" altLang="en-US"/>
              <a:t>  按鍵開啟 </a:t>
            </a:r>
            <a:r>
              <a:rPr lang="en-US" altLang="zh-TW"/>
              <a:t>vscode</a:t>
            </a:r>
            <a:r>
              <a:rPr lang="zh-TW" altLang="en-US"/>
              <a:t> 終端機</a:t>
            </a:r>
            <a:endParaRPr lang="zh-TW" altLang="en-US" dirty="0"/>
          </a:p>
        </p:txBody>
      </p:sp>
      <p:graphicFrame>
        <p:nvGraphicFramePr>
          <p:cNvPr id="6" name="表格 5">
            <a:extLst>
              <a:ext uri="{FF2B5EF4-FFF2-40B4-BE49-F238E27FC236}">
                <a16:creationId xmlns:a16="http://schemas.microsoft.com/office/drawing/2014/main" id="{0AE44AB2-DFD5-8C8D-576B-026E12C0C914}"/>
              </a:ext>
            </a:extLst>
          </p:cNvPr>
          <p:cNvGraphicFramePr>
            <a:graphicFrameLocks noGrp="1"/>
          </p:cNvGraphicFramePr>
          <p:nvPr>
            <p:extLst>
              <p:ext uri="{D42A27DB-BD31-4B8C-83A1-F6EECF244321}">
                <p14:modId xmlns:p14="http://schemas.microsoft.com/office/powerpoint/2010/main" val="432559295"/>
              </p:ext>
            </p:extLst>
          </p:nvPr>
        </p:nvGraphicFramePr>
        <p:xfrm>
          <a:off x="838200" y="2276452"/>
          <a:ext cx="10515600" cy="2491740"/>
        </p:xfrm>
        <a:graphic>
          <a:graphicData uri="http://schemas.openxmlformats.org/drawingml/2006/table">
            <a:tbl>
              <a:tblPr/>
              <a:tblGrid>
                <a:gridCol w="3505200">
                  <a:extLst>
                    <a:ext uri="{9D8B030D-6E8A-4147-A177-3AD203B41FA5}">
                      <a16:colId xmlns:a16="http://schemas.microsoft.com/office/drawing/2014/main" val="2518866550"/>
                    </a:ext>
                  </a:extLst>
                </a:gridCol>
                <a:gridCol w="3505200">
                  <a:extLst>
                    <a:ext uri="{9D8B030D-6E8A-4147-A177-3AD203B41FA5}">
                      <a16:colId xmlns:a16="http://schemas.microsoft.com/office/drawing/2014/main" val="951944973"/>
                    </a:ext>
                  </a:extLst>
                </a:gridCol>
                <a:gridCol w="3505200">
                  <a:extLst>
                    <a:ext uri="{9D8B030D-6E8A-4147-A177-3AD203B41FA5}">
                      <a16:colId xmlns:a16="http://schemas.microsoft.com/office/drawing/2014/main" val="1759124050"/>
                    </a:ext>
                  </a:extLst>
                </a:gridCol>
              </a:tblGrid>
              <a:tr h="0">
                <a:tc>
                  <a:txBody>
                    <a:bodyPr/>
                    <a:lstStyle/>
                    <a:p>
                      <a:r>
                        <a:rPr lang="zh-TW" altLang="en-US">
                          <a:effectLst/>
                        </a:rPr>
                        <a:t>顧客端點餐系統</a:t>
                      </a:r>
                    </a:p>
                  </a:txBody>
                  <a:tcPr marL="123825" marR="123825" marT="57150" marB="57150" anchor="ctr">
                    <a:lnL w="9525" cap="flat" cmpd="sng" algn="ctr">
                      <a:solidFill>
                        <a:srgbClr val="D1D9E0"/>
                      </a:solidFill>
                      <a:prstDash val="solid"/>
                      <a:round/>
                      <a:headEnd type="none" w="med" len="med"/>
                      <a:tailEnd type="none" w="med" len="med"/>
                    </a:lnL>
                    <a:lnR w="9525" cap="flat" cmpd="sng" algn="ctr">
                      <a:solidFill>
                        <a:srgbClr val="D1D9E0"/>
                      </a:solidFill>
                      <a:prstDash val="solid"/>
                      <a:round/>
                      <a:headEnd type="none" w="med" len="med"/>
                      <a:tailEnd type="none" w="med" len="med"/>
                    </a:lnR>
                    <a:lnT w="9525" cap="flat" cmpd="sng" algn="ctr">
                      <a:solidFill>
                        <a:srgbClr val="D1D9E0"/>
                      </a:solidFill>
                      <a:prstDash val="solid"/>
                      <a:round/>
                      <a:headEnd type="none" w="med" len="med"/>
                      <a:tailEnd type="none" w="med" len="med"/>
                    </a:lnT>
                    <a:lnB w="9525" cap="flat" cmpd="sng" algn="ctr">
                      <a:solidFill>
                        <a:srgbClr val="D1D9E0"/>
                      </a:solidFill>
                      <a:prstDash val="solid"/>
                      <a:round/>
                      <a:headEnd type="none" w="med" len="med"/>
                      <a:tailEnd type="none" w="med" len="med"/>
                    </a:lnB>
                    <a:solidFill>
                      <a:srgbClr val="FFFFFF"/>
                    </a:solidFill>
                  </a:tcPr>
                </a:tc>
                <a:tc>
                  <a:txBody>
                    <a:bodyPr/>
                    <a:lstStyle/>
                    <a:p>
                      <a:r>
                        <a:rPr lang="zh-TW" altLang="en-US" dirty="0">
                          <a:effectLst/>
                        </a:rPr>
                        <a:t>顧客點餐、購物車、</a:t>
                      </a:r>
                      <a:r>
                        <a:rPr lang="en-US" altLang="zh-TW" dirty="0">
                          <a:effectLst/>
                        </a:rPr>
                        <a:t>Gemini </a:t>
                      </a:r>
                      <a:r>
                        <a:rPr lang="zh-TW" altLang="en-US" dirty="0">
                          <a:effectLst/>
                        </a:rPr>
                        <a:t>助理</a:t>
                      </a:r>
                    </a:p>
                  </a:txBody>
                  <a:tcPr marL="123825" marR="123825" marT="57150" marB="57150" anchor="ctr">
                    <a:lnL w="9525" cap="flat" cmpd="sng" algn="ctr">
                      <a:solidFill>
                        <a:srgbClr val="D1D9E0"/>
                      </a:solidFill>
                      <a:prstDash val="solid"/>
                      <a:round/>
                      <a:headEnd type="none" w="med" len="med"/>
                      <a:tailEnd type="none" w="med" len="med"/>
                    </a:lnL>
                    <a:lnR w="9525" cap="flat" cmpd="sng" algn="ctr">
                      <a:solidFill>
                        <a:srgbClr val="D1D9E0"/>
                      </a:solidFill>
                      <a:prstDash val="solid"/>
                      <a:round/>
                      <a:headEnd type="none" w="med" len="med"/>
                      <a:tailEnd type="none" w="med" len="med"/>
                    </a:lnR>
                    <a:lnT w="9525" cap="flat" cmpd="sng" algn="ctr">
                      <a:solidFill>
                        <a:srgbClr val="D1D9E0"/>
                      </a:solidFill>
                      <a:prstDash val="solid"/>
                      <a:round/>
                      <a:headEnd type="none" w="med" len="med"/>
                      <a:tailEnd type="none" w="med" len="med"/>
                    </a:lnT>
                    <a:lnB w="9525" cap="flat" cmpd="sng" algn="ctr">
                      <a:solidFill>
                        <a:srgbClr val="D1D9E0"/>
                      </a:solidFill>
                      <a:prstDash val="solid"/>
                      <a:round/>
                      <a:headEnd type="none" w="med" len="med"/>
                      <a:tailEnd type="none" w="med" len="med"/>
                    </a:lnB>
                    <a:solidFill>
                      <a:srgbClr val="FFFFFF"/>
                    </a:solidFill>
                  </a:tcPr>
                </a:tc>
                <a:tc>
                  <a:txBody>
                    <a:bodyPr/>
                    <a:lstStyle/>
                    <a:p>
                      <a:r>
                        <a:rPr lang="en-US" u="sng" dirty="0">
                          <a:solidFill>
                            <a:srgbClr val="0969DA"/>
                          </a:solidFill>
                          <a:effectLst/>
                          <a:highlight>
                            <a:srgbClr val="FFFF00"/>
                          </a:highlight>
                          <a:hlinkClick r:id="rId2"/>
                        </a:rPr>
                        <a:t>http://localhost:5174</a:t>
                      </a:r>
                      <a:endParaRPr lang="en-US" dirty="0">
                        <a:effectLst/>
                        <a:highlight>
                          <a:srgbClr val="FFFF00"/>
                        </a:highlight>
                      </a:endParaRPr>
                    </a:p>
                  </a:txBody>
                  <a:tcPr marL="123825" marR="123825" marT="57150" marB="57150" anchor="ctr">
                    <a:lnL w="9525" cap="flat" cmpd="sng" algn="ctr">
                      <a:solidFill>
                        <a:srgbClr val="D1D9E0"/>
                      </a:solidFill>
                      <a:prstDash val="solid"/>
                      <a:round/>
                      <a:headEnd type="none" w="med" len="med"/>
                      <a:tailEnd type="none" w="med" len="med"/>
                    </a:lnL>
                    <a:lnR w="9525" cap="flat" cmpd="sng" algn="ctr">
                      <a:solidFill>
                        <a:srgbClr val="D1D9E0"/>
                      </a:solidFill>
                      <a:prstDash val="solid"/>
                      <a:round/>
                      <a:headEnd type="none" w="med" len="med"/>
                      <a:tailEnd type="none" w="med" len="med"/>
                    </a:lnR>
                    <a:lnT w="9525" cap="flat" cmpd="sng" algn="ctr">
                      <a:solidFill>
                        <a:srgbClr val="D1D9E0"/>
                      </a:solidFill>
                      <a:prstDash val="solid"/>
                      <a:round/>
                      <a:headEnd type="none" w="med" len="med"/>
                      <a:tailEnd type="none" w="med" len="med"/>
                    </a:lnT>
                    <a:lnB w="9525" cap="flat" cmpd="sng" algn="ctr">
                      <a:solidFill>
                        <a:srgbClr val="D1D9E0"/>
                      </a:solidFill>
                      <a:prstDash val="solid"/>
                      <a:round/>
                      <a:headEnd type="none" w="med" len="med"/>
                      <a:tailEnd type="none" w="med" len="med"/>
                    </a:lnB>
                    <a:solidFill>
                      <a:srgbClr val="FFFFFF"/>
                    </a:solidFill>
                  </a:tcPr>
                </a:tc>
                <a:extLst>
                  <a:ext uri="{0D108BD9-81ED-4DB2-BD59-A6C34878D82A}">
                    <a16:rowId xmlns:a16="http://schemas.microsoft.com/office/drawing/2014/main" val="465850731"/>
                  </a:ext>
                </a:extLst>
              </a:tr>
              <a:tr h="0">
                <a:tc>
                  <a:txBody>
                    <a:bodyPr/>
                    <a:lstStyle/>
                    <a:p>
                      <a:r>
                        <a:rPr lang="zh-TW" altLang="en-US" dirty="0">
                          <a:effectLst/>
                        </a:rPr>
                        <a:t>後台管理系統</a:t>
                      </a:r>
                    </a:p>
                  </a:txBody>
                  <a:tcPr marL="123825" marR="123825" marT="57150" marB="57150" anchor="ctr">
                    <a:lnL w="9525" cap="flat" cmpd="sng" algn="ctr">
                      <a:solidFill>
                        <a:srgbClr val="D1D9E0"/>
                      </a:solidFill>
                      <a:prstDash val="solid"/>
                      <a:round/>
                      <a:headEnd type="none" w="med" len="med"/>
                      <a:tailEnd type="none" w="med" len="med"/>
                    </a:lnL>
                    <a:lnR w="9525" cap="flat" cmpd="sng" algn="ctr">
                      <a:solidFill>
                        <a:srgbClr val="D1D9E0"/>
                      </a:solidFill>
                      <a:prstDash val="solid"/>
                      <a:round/>
                      <a:headEnd type="none" w="med" len="med"/>
                      <a:tailEnd type="none" w="med" len="med"/>
                    </a:lnR>
                    <a:lnT w="9525" cap="flat" cmpd="sng" algn="ctr">
                      <a:solidFill>
                        <a:srgbClr val="D1D9E0"/>
                      </a:solidFill>
                      <a:prstDash val="solid"/>
                      <a:round/>
                      <a:headEnd type="none" w="med" len="med"/>
                      <a:tailEnd type="none" w="med" len="med"/>
                    </a:lnT>
                    <a:lnB w="9525" cap="flat" cmpd="sng" algn="ctr">
                      <a:solidFill>
                        <a:srgbClr val="D1D9E0"/>
                      </a:solidFill>
                      <a:prstDash val="solid"/>
                      <a:round/>
                      <a:headEnd type="none" w="med" len="med"/>
                      <a:tailEnd type="none" w="med" len="med"/>
                    </a:lnB>
                    <a:solidFill>
                      <a:srgbClr val="F6F8FA"/>
                    </a:solidFill>
                  </a:tcPr>
                </a:tc>
                <a:tc>
                  <a:txBody>
                    <a:bodyPr/>
                    <a:lstStyle/>
                    <a:p>
                      <a:r>
                        <a:rPr lang="zh-TW" altLang="en-US">
                          <a:effectLst/>
                        </a:rPr>
                        <a:t>菜單 </a:t>
                      </a:r>
                      <a:r>
                        <a:rPr lang="en-US" altLang="zh-TW">
                          <a:effectLst/>
                        </a:rPr>
                        <a:t>CRUD</a:t>
                      </a:r>
                      <a:r>
                        <a:rPr lang="zh-TW" altLang="en-US">
                          <a:effectLst/>
                        </a:rPr>
                        <a:t>、</a:t>
                      </a:r>
                      <a:r>
                        <a:rPr lang="en-US" altLang="zh-TW">
                          <a:effectLst/>
                        </a:rPr>
                        <a:t>Excel </a:t>
                      </a:r>
                      <a:r>
                        <a:rPr lang="zh-TW" altLang="en-US">
                          <a:effectLst/>
                        </a:rPr>
                        <a:t>匯入、訂單管理</a:t>
                      </a:r>
                    </a:p>
                  </a:txBody>
                  <a:tcPr marL="123825" marR="123825" marT="57150" marB="57150" anchor="ctr">
                    <a:lnL w="9525" cap="flat" cmpd="sng" algn="ctr">
                      <a:solidFill>
                        <a:srgbClr val="D1D9E0"/>
                      </a:solidFill>
                      <a:prstDash val="solid"/>
                      <a:round/>
                      <a:headEnd type="none" w="med" len="med"/>
                      <a:tailEnd type="none" w="med" len="med"/>
                    </a:lnL>
                    <a:lnR w="9525" cap="flat" cmpd="sng" algn="ctr">
                      <a:solidFill>
                        <a:srgbClr val="D1D9E0"/>
                      </a:solidFill>
                      <a:prstDash val="solid"/>
                      <a:round/>
                      <a:headEnd type="none" w="med" len="med"/>
                      <a:tailEnd type="none" w="med" len="med"/>
                    </a:lnR>
                    <a:lnT w="9525" cap="flat" cmpd="sng" algn="ctr">
                      <a:solidFill>
                        <a:srgbClr val="D1D9E0"/>
                      </a:solidFill>
                      <a:prstDash val="solid"/>
                      <a:round/>
                      <a:headEnd type="none" w="med" len="med"/>
                      <a:tailEnd type="none" w="med" len="med"/>
                    </a:lnT>
                    <a:lnB w="9525" cap="flat" cmpd="sng" algn="ctr">
                      <a:solidFill>
                        <a:srgbClr val="D1D9E0"/>
                      </a:solidFill>
                      <a:prstDash val="solid"/>
                      <a:round/>
                      <a:headEnd type="none" w="med" len="med"/>
                      <a:tailEnd type="none" w="med" len="med"/>
                    </a:lnB>
                    <a:solidFill>
                      <a:srgbClr val="F6F8FA"/>
                    </a:solidFill>
                  </a:tcPr>
                </a:tc>
                <a:tc>
                  <a:txBody>
                    <a:bodyPr/>
                    <a:lstStyle/>
                    <a:p>
                      <a:r>
                        <a:rPr lang="en-US" u="sng" dirty="0">
                          <a:solidFill>
                            <a:srgbClr val="0969DA"/>
                          </a:solidFill>
                          <a:effectLst/>
                          <a:highlight>
                            <a:srgbClr val="FFFF00"/>
                          </a:highlight>
                          <a:hlinkClick r:id="rId3"/>
                        </a:rPr>
                        <a:t>http://localhost:5173</a:t>
                      </a:r>
                      <a:endParaRPr lang="en-US" dirty="0">
                        <a:effectLst/>
                        <a:highlight>
                          <a:srgbClr val="FFFF00"/>
                        </a:highlight>
                      </a:endParaRPr>
                    </a:p>
                  </a:txBody>
                  <a:tcPr marL="123825" marR="123825" marT="57150" marB="57150" anchor="ctr">
                    <a:lnL w="9525" cap="flat" cmpd="sng" algn="ctr">
                      <a:solidFill>
                        <a:srgbClr val="D1D9E0"/>
                      </a:solidFill>
                      <a:prstDash val="solid"/>
                      <a:round/>
                      <a:headEnd type="none" w="med" len="med"/>
                      <a:tailEnd type="none" w="med" len="med"/>
                    </a:lnL>
                    <a:lnR w="9525" cap="flat" cmpd="sng" algn="ctr">
                      <a:solidFill>
                        <a:srgbClr val="D1D9E0"/>
                      </a:solidFill>
                      <a:prstDash val="solid"/>
                      <a:round/>
                      <a:headEnd type="none" w="med" len="med"/>
                      <a:tailEnd type="none" w="med" len="med"/>
                    </a:lnR>
                    <a:lnT w="9525" cap="flat" cmpd="sng" algn="ctr">
                      <a:solidFill>
                        <a:srgbClr val="D1D9E0"/>
                      </a:solidFill>
                      <a:prstDash val="solid"/>
                      <a:round/>
                      <a:headEnd type="none" w="med" len="med"/>
                      <a:tailEnd type="none" w="med" len="med"/>
                    </a:lnT>
                    <a:lnB w="9525" cap="flat" cmpd="sng" algn="ctr">
                      <a:solidFill>
                        <a:srgbClr val="D1D9E0"/>
                      </a:solidFill>
                      <a:prstDash val="solid"/>
                      <a:round/>
                      <a:headEnd type="none" w="med" len="med"/>
                      <a:tailEnd type="none" w="med" len="med"/>
                    </a:lnB>
                    <a:solidFill>
                      <a:srgbClr val="F6F8FA"/>
                    </a:solidFill>
                  </a:tcPr>
                </a:tc>
                <a:extLst>
                  <a:ext uri="{0D108BD9-81ED-4DB2-BD59-A6C34878D82A}">
                    <a16:rowId xmlns:a16="http://schemas.microsoft.com/office/drawing/2014/main" val="2910517935"/>
                  </a:ext>
                </a:extLst>
              </a:tr>
              <a:tr h="0">
                <a:tc>
                  <a:txBody>
                    <a:bodyPr/>
                    <a:lstStyle/>
                    <a:p>
                      <a:r>
                        <a:rPr lang="en-US">
                          <a:effectLst/>
                        </a:rPr>
                        <a:t>Django API</a:t>
                      </a:r>
                    </a:p>
                  </a:txBody>
                  <a:tcPr marL="123825" marR="123825" marT="57150" marB="57150" anchor="ctr">
                    <a:lnL w="9525" cap="flat" cmpd="sng" algn="ctr">
                      <a:solidFill>
                        <a:srgbClr val="D1D9E0"/>
                      </a:solidFill>
                      <a:prstDash val="solid"/>
                      <a:round/>
                      <a:headEnd type="none" w="med" len="med"/>
                      <a:tailEnd type="none" w="med" len="med"/>
                    </a:lnL>
                    <a:lnR w="9525" cap="flat" cmpd="sng" algn="ctr">
                      <a:solidFill>
                        <a:srgbClr val="D1D9E0"/>
                      </a:solidFill>
                      <a:prstDash val="solid"/>
                      <a:round/>
                      <a:headEnd type="none" w="med" len="med"/>
                      <a:tailEnd type="none" w="med" len="med"/>
                    </a:lnR>
                    <a:lnT w="9525" cap="flat" cmpd="sng" algn="ctr">
                      <a:solidFill>
                        <a:srgbClr val="D1D9E0"/>
                      </a:solidFill>
                      <a:prstDash val="solid"/>
                      <a:round/>
                      <a:headEnd type="none" w="med" len="med"/>
                      <a:tailEnd type="none" w="med" len="med"/>
                    </a:lnT>
                    <a:lnB w="9525" cap="flat" cmpd="sng" algn="ctr">
                      <a:solidFill>
                        <a:srgbClr val="D1D9E0"/>
                      </a:solidFill>
                      <a:prstDash val="solid"/>
                      <a:round/>
                      <a:headEnd type="none" w="med" len="med"/>
                      <a:tailEnd type="none" w="med" len="med"/>
                    </a:lnB>
                    <a:solidFill>
                      <a:srgbClr val="FFFFFF"/>
                    </a:solidFill>
                  </a:tcPr>
                </a:tc>
                <a:tc>
                  <a:txBody>
                    <a:bodyPr/>
                    <a:lstStyle/>
                    <a:p>
                      <a:r>
                        <a:rPr lang="zh-TW" altLang="en-US">
                          <a:effectLst/>
                        </a:rPr>
                        <a:t>後端 </a:t>
                      </a:r>
                      <a:r>
                        <a:rPr lang="en-US">
                          <a:effectLst/>
                        </a:rPr>
                        <a:t>API</a:t>
                      </a:r>
                    </a:p>
                  </a:txBody>
                  <a:tcPr marL="123825" marR="123825" marT="57150" marB="57150" anchor="ctr">
                    <a:lnL w="9525" cap="flat" cmpd="sng" algn="ctr">
                      <a:solidFill>
                        <a:srgbClr val="D1D9E0"/>
                      </a:solidFill>
                      <a:prstDash val="solid"/>
                      <a:round/>
                      <a:headEnd type="none" w="med" len="med"/>
                      <a:tailEnd type="none" w="med" len="med"/>
                    </a:lnL>
                    <a:lnR w="9525" cap="flat" cmpd="sng" algn="ctr">
                      <a:solidFill>
                        <a:srgbClr val="D1D9E0"/>
                      </a:solidFill>
                      <a:prstDash val="solid"/>
                      <a:round/>
                      <a:headEnd type="none" w="med" len="med"/>
                      <a:tailEnd type="none" w="med" len="med"/>
                    </a:lnR>
                    <a:lnT w="9525" cap="flat" cmpd="sng" algn="ctr">
                      <a:solidFill>
                        <a:srgbClr val="D1D9E0"/>
                      </a:solidFill>
                      <a:prstDash val="solid"/>
                      <a:round/>
                      <a:headEnd type="none" w="med" len="med"/>
                      <a:tailEnd type="none" w="med" len="med"/>
                    </a:lnT>
                    <a:lnB w="9525" cap="flat" cmpd="sng" algn="ctr">
                      <a:solidFill>
                        <a:srgbClr val="D1D9E0"/>
                      </a:solidFill>
                      <a:prstDash val="solid"/>
                      <a:round/>
                      <a:headEnd type="none" w="med" len="med"/>
                      <a:tailEnd type="none" w="med" len="med"/>
                    </a:lnB>
                    <a:solidFill>
                      <a:srgbClr val="FFFFFF"/>
                    </a:solidFill>
                  </a:tcPr>
                </a:tc>
                <a:tc>
                  <a:txBody>
                    <a:bodyPr/>
                    <a:lstStyle/>
                    <a:p>
                      <a:r>
                        <a:rPr lang="en-US" u="sng">
                          <a:solidFill>
                            <a:srgbClr val="0969DA"/>
                          </a:solidFill>
                          <a:effectLst/>
                          <a:hlinkClick r:id="rId4"/>
                        </a:rPr>
                        <a:t>http://localhost:8000</a:t>
                      </a:r>
                      <a:endParaRPr lang="en-US">
                        <a:effectLst/>
                      </a:endParaRPr>
                    </a:p>
                  </a:txBody>
                  <a:tcPr marL="123825" marR="123825" marT="57150" marB="57150" anchor="ctr">
                    <a:lnL w="9525" cap="flat" cmpd="sng" algn="ctr">
                      <a:solidFill>
                        <a:srgbClr val="D1D9E0"/>
                      </a:solidFill>
                      <a:prstDash val="solid"/>
                      <a:round/>
                      <a:headEnd type="none" w="med" len="med"/>
                      <a:tailEnd type="none" w="med" len="med"/>
                    </a:lnL>
                    <a:lnR w="9525" cap="flat" cmpd="sng" algn="ctr">
                      <a:solidFill>
                        <a:srgbClr val="D1D9E0"/>
                      </a:solidFill>
                      <a:prstDash val="solid"/>
                      <a:round/>
                      <a:headEnd type="none" w="med" len="med"/>
                      <a:tailEnd type="none" w="med" len="med"/>
                    </a:lnR>
                    <a:lnT w="9525" cap="flat" cmpd="sng" algn="ctr">
                      <a:solidFill>
                        <a:srgbClr val="D1D9E0"/>
                      </a:solidFill>
                      <a:prstDash val="solid"/>
                      <a:round/>
                      <a:headEnd type="none" w="med" len="med"/>
                      <a:tailEnd type="none" w="med" len="med"/>
                    </a:lnT>
                    <a:lnB w="9525" cap="flat" cmpd="sng" algn="ctr">
                      <a:solidFill>
                        <a:srgbClr val="D1D9E0"/>
                      </a:solidFill>
                      <a:prstDash val="solid"/>
                      <a:round/>
                      <a:headEnd type="none" w="med" len="med"/>
                      <a:tailEnd type="none" w="med" len="med"/>
                    </a:lnB>
                    <a:solidFill>
                      <a:srgbClr val="FFFFFF"/>
                    </a:solidFill>
                  </a:tcPr>
                </a:tc>
                <a:extLst>
                  <a:ext uri="{0D108BD9-81ED-4DB2-BD59-A6C34878D82A}">
                    <a16:rowId xmlns:a16="http://schemas.microsoft.com/office/drawing/2014/main" val="1450860086"/>
                  </a:ext>
                </a:extLst>
              </a:tr>
              <a:tr h="0">
                <a:tc>
                  <a:txBody>
                    <a:bodyPr/>
                    <a:lstStyle/>
                    <a:p>
                      <a:r>
                        <a:rPr lang="en-US">
                          <a:effectLst/>
                        </a:rPr>
                        <a:t>phpMyAdmin</a:t>
                      </a:r>
                    </a:p>
                  </a:txBody>
                  <a:tcPr marL="123825" marR="123825" marT="57150" marB="57150" anchor="ctr">
                    <a:lnL w="9525" cap="flat" cmpd="sng" algn="ctr">
                      <a:solidFill>
                        <a:srgbClr val="D1D9E0"/>
                      </a:solidFill>
                      <a:prstDash val="solid"/>
                      <a:round/>
                      <a:headEnd type="none" w="med" len="med"/>
                      <a:tailEnd type="none" w="med" len="med"/>
                    </a:lnL>
                    <a:lnR w="9525" cap="flat" cmpd="sng" algn="ctr">
                      <a:solidFill>
                        <a:srgbClr val="D1D9E0"/>
                      </a:solidFill>
                      <a:prstDash val="solid"/>
                      <a:round/>
                      <a:headEnd type="none" w="med" len="med"/>
                      <a:tailEnd type="none" w="med" len="med"/>
                    </a:lnR>
                    <a:lnT w="9525" cap="flat" cmpd="sng" algn="ctr">
                      <a:solidFill>
                        <a:srgbClr val="D1D9E0"/>
                      </a:solidFill>
                      <a:prstDash val="solid"/>
                      <a:round/>
                      <a:headEnd type="none" w="med" len="med"/>
                      <a:tailEnd type="none" w="med" len="med"/>
                    </a:lnT>
                    <a:lnB w="9525" cap="flat" cmpd="sng" algn="ctr">
                      <a:solidFill>
                        <a:srgbClr val="D1D9E0"/>
                      </a:solidFill>
                      <a:prstDash val="solid"/>
                      <a:round/>
                      <a:headEnd type="none" w="med" len="med"/>
                      <a:tailEnd type="none" w="med" len="med"/>
                    </a:lnB>
                    <a:solidFill>
                      <a:srgbClr val="F6F8FA"/>
                    </a:solidFill>
                  </a:tcPr>
                </a:tc>
                <a:tc>
                  <a:txBody>
                    <a:bodyPr/>
                    <a:lstStyle/>
                    <a:p>
                      <a:r>
                        <a:rPr lang="en-US">
                          <a:effectLst/>
                        </a:rPr>
                        <a:t>MySQL </a:t>
                      </a:r>
                      <a:r>
                        <a:rPr lang="zh-TW" altLang="en-US">
                          <a:effectLst/>
                        </a:rPr>
                        <a:t>圖形化介面</a:t>
                      </a:r>
                    </a:p>
                  </a:txBody>
                  <a:tcPr marL="123825" marR="123825" marT="57150" marB="57150" anchor="ctr">
                    <a:lnL w="9525" cap="flat" cmpd="sng" algn="ctr">
                      <a:solidFill>
                        <a:srgbClr val="D1D9E0"/>
                      </a:solidFill>
                      <a:prstDash val="solid"/>
                      <a:round/>
                      <a:headEnd type="none" w="med" len="med"/>
                      <a:tailEnd type="none" w="med" len="med"/>
                    </a:lnL>
                    <a:lnR w="9525" cap="flat" cmpd="sng" algn="ctr">
                      <a:solidFill>
                        <a:srgbClr val="D1D9E0"/>
                      </a:solidFill>
                      <a:prstDash val="solid"/>
                      <a:round/>
                      <a:headEnd type="none" w="med" len="med"/>
                      <a:tailEnd type="none" w="med" len="med"/>
                    </a:lnR>
                    <a:lnT w="9525" cap="flat" cmpd="sng" algn="ctr">
                      <a:solidFill>
                        <a:srgbClr val="D1D9E0"/>
                      </a:solidFill>
                      <a:prstDash val="solid"/>
                      <a:round/>
                      <a:headEnd type="none" w="med" len="med"/>
                      <a:tailEnd type="none" w="med" len="med"/>
                    </a:lnT>
                    <a:lnB w="9525" cap="flat" cmpd="sng" algn="ctr">
                      <a:solidFill>
                        <a:srgbClr val="D1D9E0"/>
                      </a:solidFill>
                      <a:prstDash val="solid"/>
                      <a:round/>
                      <a:headEnd type="none" w="med" len="med"/>
                      <a:tailEnd type="none" w="med" len="med"/>
                    </a:lnB>
                    <a:solidFill>
                      <a:srgbClr val="F6F8FA"/>
                    </a:solidFill>
                  </a:tcPr>
                </a:tc>
                <a:tc>
                  <a:txBody>
                    <a:bodyPr/>
                    <a:lstStyle/>
                    <a:p>
                      <a:r>
                        <a:rPr lang="en-US" u="sng">
                          <a:solidFill>
                            <a:srgbClr val="0969DA"/>
                          </a:solidFill>
                          <a:effectLst/>
                          <a:hlinkClick r:id="rId5"/>
                        </a:rPr>
                        <a:t>http://localhost:8080</a:t>
                      </a:r>
                      <a:endParaRPr lang="en-US">
                        <a:effectLst/>
                      </a:endParaRPr>
                    </a:p>
                  </a:txBody>
                  <a:tcPr marL="123825" marR="123825" marT="57150" marB="57150" anchor="ctr">
                    <a:lnL w="9525" cap="flat" cmpd="sng" algn="ctr">
                      <a:solidFill>
                        <a:srgbClr val="D1D9E0"/>
                      </a:solidFill>
                      <a:prstDash val="solid"/>
                      <a:round/>
                      <a:headEnd type="none" w="med" len="med"/>
                      <a:tailEnd type="none" w="med" len="med"/>
                    </a:lnL>
                    <a:lnR w="9525" cap="flat" cmpd="sng" algn="ctr">
                      <a:solidFill>
                        <a:srgbClr val="D1D9E0"/>
                      </a:solidFill>
                      <a:prstDash val="solid"/>
                      <a:round/>
                      <a:headEnd type="none" w="med" len="med"/>
                      <a:tailEnd type="none" w="med" len="med"/>
                    </a:lnR>
                    <a:lnT w="9525" cap="flat" cmpd="sng" algn="ctr">
                      <a:solidFill>
                        <a:srgbClr val="D1D9E0"/>
                      </a:solidFill>
                      <a:prstDash val="solid"/>
                      <a:round/>
                      <a:headEnd type="none" w="med" len="med"/>
                      <a:tailEnd type="none" w="med" len="med"/>
                    </a:lnT>
                    <a:lnB w="9525" cap="flat" cmpd="sng" algn="ctr">
                      <a:solidFill>
                        <a:srgbClr val="D1D9E0"/>
                      </a:solidFill>
                      <a:prstDash val="solid"/>
                      <a:round/>
                      <a:headEnd type="none" w="med" len="med"/>
                      <a:tailEnd type="none" w="med" len="med"/>
                    </a:lnB>
                    <a:solidFill>
                      <a:srgbClr val="F6F8FA"/>
                    </a:solidFill>
                  </a:tcPr>
                </a:tc>
                <a:extLst>
                  <a:ext uri="{0D108BD9-81ED-4DB2-BD59-A6C34878D82A}">
                    <a16:rowId xmlns:a16="http://schemas.microsoft.com/office/drawing/2014/main" val="3586931288"/>
                  </a:ext>
                </a:extLst>
              </a:tr>
              <a:tr h="0">
                <a:tc>
                  <a:txBody>
                    <a:bodyPr/>
                    <a:lstStyle/>
                    <a:p>
                      <a:r>
                        <a:rPr lang="en-US">
                          <a:effectLst/>
                        </a:rPr>
                        <a:t>MySQL</a:t>
                      </a:r>
                    </a:p>
                  </a:txBody>
                  <a:tcPr marL="123825" marR="123825" marT="57150" marB="57150" anchor="ctr">
                    <a:lnL w="9525" cap="flat" cmpd="sng" algn="ctr">
                      <a:solidFill>
                        <a:srgbClr val="D1D9E0"/>
                      </a:solidFill>
                      <a:prstDash val="solid"/>
                      <a:round/>
                      <a:headEnd type="none" w="med" len="med"/>
                      <a:tailEnd type="none" w="med" len="med"/>
                    </a:lnL>
                    <a:lnR w="9525" cap="flat" cmpd="sng" algn="ctr">
                      <a:solidFill>
                        <a:srgbClr val="D1D9E0"/>
                      </a:solidFill>
                      <a:prstDash val="solid"/>
                      <a:round/>
                      <a:headEnd type="none" w="med" len="med"/>
                      <a:tailEnd type="none" w="med" len="med"/>
                    </a:lnR>
                    <a:lnT w="9525" cap="flat" cmpd="sng" algn="ctr">
                      <a:solidFill>
                        <a:srgbClr val="D1D9E0"/>
                      </a:solidFill>
                      <a:prstDash val="solid"/>
                      <a:round/>
                      <a:headEnd type="none" w="med" len="med"/>
                      <a:tailEnd type="none" w="med" len="med"/>
                    </a:lnT>
                    <a:lnB w="9525" cap="flat" cmpd="sng" algn="ctr">
                      <a:solidFill>
                        <a:srgbClr val="D1D9E0"/>
                      </a:solidFill>
                      <a:prstDash val="solid"/>
                      <a:round/>
                      <a:headEnd type="none" w="med" len="med"/>
                      <a:tailEnd type="none" w="med" len="med"/>
                    </a:lnB>
                    <a:solidFill>
                      <a:srgbClr val="FFFFFF"/>
                    </a:solidFill>
                  </a:tcPr>
                </a:tc>
                <a:tc>
                  <a:txBody>
                    <a:bodyPr/>
                    <a:lstStyle/>
                    <a:p>
                      <a:r>
                        <a:rPr lang="zh-TW" altLang="en-US">
                          <a:effectLst/>
                        </a:rPr>
                        <a:t>資料庫連線</a:t>
                      </a:r>
                    </a:p>
                  </a:txBody>
                  <a:tcPr marL="123825" marR="123825" marT="57150" marB="57150" anchor="ctr">
                    <a:lnL w="9525" cap="flat" cmpd="sng" algn="ctr">
                      <a:solidFill>
                        <a:srgbClr val="D1D9E0"/>
                      </a:solidFill>
                      <a:prstDash val="solid"/>
                      <a:round/>
                      <a:headEnd type="none" w="med" len="med"/>
                      <a:tailEnd type="none" w="med" len="med"/>
                    </a:lnL>
                    <a:lnR w="9525" cap="flat" cmpd="sng" algn="ctr">
                      <a:solidFill>
                        <a:srgbClr val="D1D9E0"/>
                      </a:solidFill>
                      <a:prstDash val="solid"/>
                      <a:round/>
                      <a:headEnd type="none" w="med" len="med"/>
                      <a:tailEnd type="none" w="med" len="med"/>
                    </a:lnR>
                    <a:lnT w="9525" cap="flat" cmpd="sng" algn="ctr">
                      <a:solidFill>
                        <a:srgbClr val="D1D9E0"/>
                      </a:solidFill>
                      <a:prstDash val="solid"/>
                      <a:round/>
                      <a:headEnd type="none" w="med" len="med"/>
                      <a:tailEnd type="none" w="med" len="med"/>
                    </a:lnT>
                    <a:lnB w="9525" cap="flat" cmpd="sng" algn="ctr">
                      <a:solidFill>
                        <a:srgbClr val="D1D9E0"/>
                      </a:solidFill>
                      <a:prstDash val="solid"/>
                      <a:round/>
                      <a:headEnd type="none" w="med" len="med"/>
                      <a:tailEnd type="none" w="med" len="med"/>
                    </a:lnB>
                    <a:solidFill>
                      <a:srgbClr val="FFFFFF"/>
                    </a:solidFill>
                  </a:tcPr>
                </a:tc>
                <a:tc>
                  <a:txBody>
                    <a:bodyPr/>
                    <a:lstStyle/>
                    <a:p>
                      <a:r>
                        <a:rPr lang="en-US" dirty="0">
                          <a:effectLst/>
                        </a:rPr>
                        <a:t>localhost:3306</a:t>
                      </a:r>
                    </a:p>
                  </a:txBody>
                  <a:tcPr marL="123825" marR="123825" marT="57150" marB="57150" anchor="ctr">
                    <a:lnL w="9525" cap="flat" cmpd="sng" algn="ctr">
                      <a:solidFill>
                        <a:srgbClr val="D1D9E0"/>
                      </a:solidFill>
                      <a:prstDash val="solid"/>
                      <a:round/>
                      <a:headEnd type="none" w="med" len="med"/>
                      <a:tailEnd type="none" w="med" len="med"/>
                    </a:lnL>
                    <a:lnR w="9525" cap="flat" cmpd="sng" algn="ctr">
                      <a:solidFill>
                        <a:srgbClr val="D1D9E0"/>
                      </a:solidFill>
                      <a:prstDash val="solid"/>
                      <a:round/>
                      <a:headEnd type="none" w="med" len="med"/>
                      <a:tailEnd type="none" w="med" len="med"/>
                    </a:lnR>
                    <a:lnT w="9525" cap="flat" cmpd="sng" algn="ctr">
                      <a:solidFill>
                        <a:srgbClr val="D1D9E0"/>
                      </a:solidFill>
                      <a:prstDash val="solid"/>
                      <a:round/>
                      <a:headEnd type="none" w="med" len="med"/>
                      <a:tailEnd type="none" w="med" len="med"/>
                    </a:lnT>
                    <a:lnB w="9525" cap="flat" cmpd="sng" algn="ctr">
                      <a:solidFill>
                        <a:srgbClr val="D1D9E0"/>
                      </a:solidFill>
                      <a:prstDash val="solid"/>
                      <a:round/>
                      <a:headEnd type="none" w="med" len="med"/>
                      <a:tailEnd type="none" w="med" len="med"/>
                    </a:lnB>
                    <a:solidFill>
                      <a:srgbClr val="FFFFFF"/>
                    </a:solidFill>
                  </a:tcPr>
                </a:tc>
                <a:extLst>
                  <a:ext uri="{0D108BD9-81ED-4DB2-BD59-A6C34878D82A}">
                    <a16:rowId xmlns:a16="http://schemas.microsoft.com/office/drawing/2014/main" val="374471600"/>
                  </a:ext>
                </a:extLst>
              </a:tr>
            </a:tbl>
          </a:graphicData>
        </a:graphic>
      </p:graphicFrame>
      <p:sp>
        <p:nvSpPr>
          <p:cNvPr id="7" name="文字方塊 6">
            <a:extLst>
              <a:ext uri="{FF2B5EF4-FFF2-40B4-BE49-F238E27FC236}">
                <a16:creationId xmlns:a16="http://schemas.microsoft.com/office/drawing/2014/main" id="{36A5E05C-FBF7-EE55-7D1C-29136694A910}"/>
              </a:ext>
            </a:extLst>
          </p:cNvPr>
          <p:cNvSpPr txBox="1"/>
          <p:nvPr/>
        </p:nvSpPr>
        <p:spPr>
          <a:xfrm>
            <a:off x="522515" y="1741657"/>
            <a:ext cx="6096000" cy="369332"/>
          </a:xfrm>
          <a:prstGeom prst="rect">
            <a:avLst/>
          </a:prstGeom>
          <a:noFill/>
        </p:spPr>
        <p:txBody>
          <a:bodyPr wrap="square">
            <a:spAutoFit/>
          </a:bodyPr>
          <a:lstStyle/>
          <a:p>
            <a:r>
              <a:rPr lang="en-US" altLang="zh-TW" dirty="0"/>
              <a:t>5. </a:t>
            </a:r>
            <a:endParaRPr lang="zh-TW" altLang="en-US" dirty="0"/>
          </a:p>
        </p:txBody>
      </p:sp>
      <p:sp>
        <p:nvSpPr>
          <p:cNvPr id="8" name="文字方塊 7">
            <a:extLst>
              <a:ext uri="{FF2B5EF4-FFF2-40B4-BE49-F238E27FC236}">
                <a16:creationId xmlns:a16="http://schemas.microsoft.com/office/drawing/2014/main" id="{5E060304-C447-2483-3C18-E48ACE7DB094}"/>
              </a:ext>
            </a:extLst>
          </p:cNvPr>
          <p:cNvSpPr txBox="1"/>
          <p:nvPr/>
        </p:nvSpPr>
        <p:spPr>
          <a:xfrm>
            <a:off x="10245804" y="2760617"/>
            <a:ext cx="1107996" cy="369332"/>
          </a:xfrm>
          <a:prstGeom prst="rect">
            <a:avLst/>
          </a:prstGeom>
          <a:noFill/>
        </p:spPr>
        <p:txBody>
          <a:bodyPr wrap="none" rtlCol="0">
            <a:spAutoFit/>
          </a:bodyPr>
          <a:lstStyle/>
          <a:p>
            <a:r>
              <a:rPr lang="zh-TW" altLang="en-US" dirty="0"/>
              <a:t>點這兩個</a:t>
            </a:r>
          </a:p>
        </p:txBody>
      </p:sp>
    </p:spTree>
    <p:extLst>
      <p:ext uri="{BB962C8B-B14F-4D97-AF65-F5344CB8AC3E}">
        <p14:creationId xmlns:p14="http://schemas.microsoft.com/office/powerpoint/2010/main" val="3110948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BA1FA772-280F-45F6-8296-AF85ECD15A72}"/>
              </a:ext>
            </a:extLst>
          </p:cNvPr>
          <p:cNvPicPr>
            <a:picLocks noChangeAspect="1"/>
          </p:cNvPicPr>
          <p:nvPr/>
        </p:nvPicPr>
        <p:blipFill>
          <a:blip r:embed="rId2"/>
          <a:stretch>
            <a:fillRect/>
          </a:stretch>
        </p:blipFill>
        <p:spPr>
          <a:xfrm>
            <a:off x="344715" y="688589"/>
            <a:ext cx="7173326" cy="4201111"/>
          </a:xfrm>
          <a:prstGeom prst="rect">
            <a:avLst/>
          </a:prstGeom>
        </p:spPr>
      </p:pic>
      <p:sp>
        <p:nvSpPr>
          <p:cNvPr id="4" name="文字方塊 3">
            <a:extLst>
              <a:ext uri="{FF2B5EF4-FFF2-40B4-BE49-F238E27FC236}">
                <a16:creationId xmlns:a16="http://schemas.microsoft.com/office/drawing/2014/main" id="{EFEBC99C-3794-40E0-B59E-1D732BA6579C}"/>
              </a:ext>
            </a:extLst>
          </p:cNvPr>
          <p:cNvSpPr txBox="1"/>
          <p:nvPr/>
        </p:nvSpPr>
        <p:spPr>
          <a:xfrm>
            <a:off x="9123677" y="1583869"/>
            <a:ext cx="1996703" cy="369332"/>
          </a:xfrm>
          <a:prstGeom prst="rect">
            <a:avLst/>
          </a:prstGeom>
          <a:noFill/>
        </p:spPr>
        <p:txBody>
          <a:bodyPr wrap="square">
            <a:spAutoFit/>
          </a:bodyPr>
          <a:lstStyle/>
          <a:p>
            <a:r>
              <a:rPr lang="zh-TW" altLang="en-US"/>
              <a:t>前臺可體驗</a:t>
            </a:r>
            <a:r>
              <a:rPr lang="en-US" altLang="zh-TW" dirty="0"/>
              <a:t>AI</a:t>
            </a:r>
            <a:r>
              <a:rPr lang="zh-TW" altLang="en-US" dirty="0"/>
              <a:t>助理</a:t>
            </a:r>
          </a:p>
        </p:txBody>
      </p:sp>
      <p:pic>
        <p:nvPicPr>
          <p:cNvPr id="8" name="圖片 7">
            <a:extLst>
              <a:ext uri="{FF2B5EF4-FFF2-40B4-BE49-F238E27FC236}">
                <a16:creationId xmlns:a16="http://schemas.microsoft.com/office/drawing/2014/main" id="{A7F65719-70D8-457B-8A33-398A7E9D7EB9}"/>
              </a:ext>
            </a:extLst>
          </p:cNvPr>
          <p:cNvPicPr>
            <a:picLocks noChangeAspect="1"/>
          </p:cNvPicPr>
          <p:nvPr/>
        </p:nvPicPr>
        <p:blipFill>
          <a:blip r:embed="rId3"/>
          <a:stretch>
            <a:fillRect/>
          </a:stretch>
        </p:blipFill>
        <p:spPr>
          <a:xfrm>
            <a:off x="8181415" y="2132941"/>
            <a:ext cx="3881229" cy="4572659"/>
          </a:xfrm>
          <a:prstGeom prst="rect">
            <a:avLst/>
          </a:prstGeom>
        </p:spPr>
      </p:pic>
      <p:sp>
        <p:nvSpPr>
          <p:cNvPr id="9" name="文字方塊 8">
            <a:extLst>
              <a:ext uri="{FF2B5EF4-FFF2-40B4-BE49-F238E27FC236}">
                <a16:creationId xmlns:a16="http://schemas.microsoft.com/office/drawing/2014/main" id="{70929ED4-292A-4396-91E4-C390FFA1FF15}"/>
              </a:ext>
            </a:extLst>
          </p:cNvPr>
          <p:cNvSpPr txBox="1"/>
          <p:nvPr/>
        </p:nvSpPr>
        <p:spPr>
          <a:xfrm>
            <a:off x="344715" y="319257"/>
            <a:ext cx="7413830" cy="369332"/>
          </a:xfrm>
          <a:prstGeom prst="rect">
            <a:avLst/>
          </a:prstGeom>
          <a:noFill/>
        </p:spPr>
        <p:txBody>
          <a:bodyPr wrap="square">
            <a:spAutoFit/>
          </a:bodyPr>
          <a:lstStyle/>
          <a:p>
            <a:r>
              <a:rPr lang="en-US" altLang="zh-TW"/>
              <a:t>6. </a:t>
            </a:r>
            <a:r>
              <a:rPr lang="zh-TW" altLang="en-US"/>
              <a:t>後</a:t>
            </a:r>
            <a:r>
              <a:rPr lang="zh-TW" altLang="en-US" dirty="0"/>
              <a:t>臺匯入</a:t>
            </a:r>
            <a:r>
              <a:rPr lang="en-US" altLang="zh-TW"/>
              <a:t>xlsx</a:t>
            </a:r>
            <a:r>
              <a:rPr lang="zh-TW" altLang="en-US"/>
              <a:t>菜單 </a:t>
            </a:r>
            <a:r>
              <a:rPr lang="en-US" altLang="zh-TW"/>
              <a:t>(</a:t>
            </a:r>
            <a:r>
              <a:rPr lang="zh-TW" altLang="en-US"/>
              <a:t>模擬菜單已經在 </a:t>
            </a:r>
            <a:r>
              <a:rPr lang="en-US" altLang="zh-TW"/>
              <a:t>smart-ordering-system</a:t>
            </a:r>
            <a:r>
              <a:rPr lang="zh-TW" altLang="en-US"/>
              <a:t> 資料夾內</a:t>
            </a:r>
            <a:r>
              <a:rPr lang="en-US" altLang="zh-TW"/>
              <a:t>)</a:t>
            </a:r>
            <a:endParaRPr lang="zh-TW" altLang="en-US" dirty="0"/>
          </a:p>
        </p:txBody>
      </p:sp>
      <p:sp>
        <p:nvSpPr>
          <p:cNvPr id="2" name="文字方塊 1">
            <a:extLst>
              <a:ext uri="{FF2B5EF4-FFF2-40B4-BE49-F238E27FC236}">
                <a16:creationId xmlns:a16="http://schemas.microsoft.com/office/drawing/2014/main" id="{47B44935-7E5B-7691-9ACF-03EA5A2A9F5C}"/>
              </a:ext>
            </a:extLst>
          </p:cNvPr>
          <p:cNvSpPr txBox="1"/>
          <p:nvPr/>
        </p:nvSpPr>
        <p:spPr>
          <a:xfrm>
            <a:off x="3475842" y="5800079"/>
            <a:ext cx="4532085" cy="369332"/>
          </a:xfrm>
          <a:prstGeom prst="rect">
            <a:avLst/>
          </a:prstGeom>
          <a:noFill/>
        </p:spPr>
        <p:txBody>
          <a:bodyPr wrap="square">
            <a:spAutoFit/>
          </a:bodyPr>
          <a:lstStyle>
            <a:defPPr>
              <a:defRPr lang="zh-TW"/>
            </a:defPPr>
            <a:lvl1pPr>
              <a:defRPr/>
            </a:lvl1pPr>
          </a:lstStyle>
          <a:p>
            <a:r>
              <a:rPr lang="en-US" altLang="zh-TW"/>
              <a:t>7. </a:t>
            </a:r>
            <a:r>
              <a:rPr lang="zh-TW" altLang="en-US"/>
              <a:t> </a:t>
            </a:r>
            <a:r>
              <a:rPr lang="en-US" altLang="zh-TW"/>
              <a:t>F5</a:t>
            </a:r>
            <a:r>
              <a:rPr lang="zh-TW" altLang="en-US"/>
              <a:t>刷新後就完成</a:t>
            </a:r>
            <a:r>
              <a:rPr lang="zh-TW" altLang="en-US" dirty="0"/>
              <a:t>囉 可以開始體驗系統了</a:t>
            </a:r>
          </a:p>
        </p:txBody>
      </p:sp>
    </p:spTree>
    <p:extLst>
      <p:ext uri="{BB962C8B-B14F-4D97-AF65-F5344CB8AC3E}">
        <p14:creationId xmlns:p14="http://schemas.microsoft.com/office/powerpoint/2010/main" val="25606968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D3CE9BC-D3E9-E012-67B2-3FF256787C7B}"/>
              </a:ext>
            </a:extLst>
          </p:cNvPr>
          <p:cNvSpPr>
            <a:spLocks noGrp="1"/>
          </p:cNvSpPr>
          <p:nvPr>
            <p:ph type="title"/>
          </p:nvPr>
        </p:nvSpPr>
        <p:spPr/>
        <p:txBody>
          <a:bodyPr>
            <a:normAutofit/>
          </a:bodyPr>
          <a:lstStyle/>
          <a:p>
            <a:r>
              <a:rPr lang="zh-TW" altLang="en-US" sz="3600"/>
              <a:t>第二階段 怎麼 </a:t>
            </a:r>
            <a:r>
              <a:rPr lang="en-US" altLang="zh-TW" sz="3600"/>
              <a:t>Vibe Coding</a:t>
            </a:r>
            <a:r>
              <a:rPr lang="zh-TW" altLang="en-US" sz="3600"/>
              <a:t> 出智慧點餐系統</a:t>
            </a:r>
          </a:p>
        </p:txBody>
      </p:sp>
      <p:pic>
        <p:nvPicPr>
          <p:cNvPr id="4" name="內容版面配置區 3">
            <a:extLst>
              <a:ext uri="{FF2B5EF4-FFF2-40B4-BE49-F238E27FC236}">
                <a16:creationId xmlns:a16="http://schemas.microsoft.com/office/drawing/2014/main" id="{DE2B6C59-5E70-E195-6663-F4A7BD440195}"/>
              </a:ext>
            </a:extLst>
          </p:cNvPr>
          <p:cNvPicPr>
            <a:picLocks noGrp="1" noChangeAspect="1"/>
          </p:cNvPicPr>
          <p:nvPr>
            <p:ph idx="1"/>
          </p:nvPr>
        </p:nvPicPr>
        <p:blipFill>
          <a:blip r:embed="rId2"/>
          <a:stretch>
            <a:fillRect/>
          </a:stretch>
        </p:blipFill>
        <p:spPr>
          <a:xfrm>
            <a:off x="5755341" y="1641364"/>
            <a:ext cx="5678150" cy="4867934"/>
          </a:xfrm>
          <a:prstGeom prst="rect">
            <a:avLst/>
          </a:prstGeom>
        </p:spPr>
      </p:pic>
      <p:sp>
        <p:nvSpPr>
          <p:cNvPr id="6" name="文字方塊 5">
            <a:extLst>
              <a:ext uri="{FF2B5EF4-FFF2-40B4-BE49-F238E27FC236}">
                <a16:creationId xmlns:a16="http://schemas.microsoft.com/office/drawing/2014/main" id="{92FF0EF6-C5AE-9D1D-A3D5-1FBDA4E8A8EE}"/>
              </a:ext>
            </a:extLst>
          </p:cNvPr>
          <p:cNvSpPr txBox="1"/>
          <p:nvPr/>
        </p:nvSpPr>
        <p:spPr>
          <a:xfrm>
            <a:off x="1388715" y="3429000"/>
            <a:ext cx="3999074" cy="646331"/>
          </a:xfrm>
          <a:prstGeom prst="rect">
            <a:avLst/>
          </a:prstGeom>
          <a:noFill/>
        </p:spPr>
        <p:txBody>
          <a:bodyPr wrap="square" rtlCol="0">
            <a:spAutoFit/>
          </a:bodyPr>
          <a:lstStyle/>
          <a:p>
            <a:r>
              <a:rPr lang="zh-TW" altLang="en-US"/>
              <a:t>將 </a:t>
            </a:r>
            <a:r>
              <a:rPr lang="en-US" altLang="zh-TW"/>
              <a:t>smart-ordering-system</a:t>
            </a:r>
            <a:r>
              <a:rPr lang="zh-TW" altLang="en-US"/>
              <a:t> 資料夾內的 </a:t>
            </a:r>
            <a:r>
              <a:rPr lang="en-US" altLang="zh-TW"/>
              <a:t>vibe coding.txt</a:t>
            </a:r>
            <a:r>
              <a:rPr lang="zh-TW" altLang="en-US"/>
              <a:t> 的內容貼進 </a:t>
            </a:r>
            <a:r>
              <a:rPr lang="en-US" altLang="zh-TW"/>
              <a:t>Codex</a:t>
            </a:r>
            <a:endParaRPr lang="zh-TW" altLang="en-US"/>
          </a:p>
        </p:txBody>
      </p:sp>
    </p:spTree>
    <p:extLst>
      <p:ext uri="{BB962C8B-B14F-4D97-AF65-F5344CB8AC3E}">
        <p14:creationId xmlns:p14="http://schemas.microsoft.com/office/powerpoint/2010/main" val="42329451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3AD72894-9F1A-4168-A275-BA7CE91C6BD9}"/>
              </a:ext>
            </a:extLst>
          </p:cNvPr>
          <p:cNvPicPr>
            <a:picLocks noChangeAspect="1"/>
          </p:cNvPicPr>
          <p:nvPr/>
        </p:nvPicPr>
        <p:blipFill>
          <a:blip r:embed="rId2"/>
          <a:stretch>
            <a:fillRect/>
          </a:stretch>
        </p:blipFill>
        <p:spPr>
          <a:xfrm>
            <a:off x="2261960" y="533407"/>
            <a:ext cx="9571451" cy="5791185"/>
          </a:xfrm>
          <a:prstGeom prst="rect">
            <a:avLst/>
          </a:prstGeom>
        </p:spPr>
      </p:pic>
      <p:sp>
        <p:nvSpPr>
          <p:cNvPr id="2" name="矩形 1">
            <a:extLst>
              <a:ext uri="{FF2B5EF4-FFF2-40B4-BE49-F238E27FC236}">
                <a16:creationId xmlns:a16="http://schemas.microsoft.com/office/drawing/2014/main" id="{79AD5AFD-22F4-CB5C-3FFE-0E4C9C20C516}"/>
              </a:ext>
            </a:extLst>
          </p:cNvPr>
          <p:cNvSpPr/>
          <p:nvPr/>
        </p:nvSpPr>
        <p:spPr>
          <a:xfrm>
            <a:off x="9475694" y="3872753"/>
            <a:ext cx="2429435" cy="255494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文字方塊 4">
            <a:extLst>
              <a:ext uri="{FF2B5EF4-FFF2-40B4-BE49-F238E27FC236}">
                <a16:creationId xmlns:a16="http://schemas.microsoft.com/office/drawing/2014/main" id="{FF0C44EC-0533-9BBF-EAD4-082083BCCA00}"/>
              </a:ext>
            </a:extLst>
          </p:cNvPr>
          <p:cNvSpPr txBox="1"/>
          <p:nvPr/>
        </p:nvSpPr>
        <p:spPr>
          <a:xfrm>
            <a:off x="286871" y="3226422"/>
            <a:ext cx="1891553" cy="646331"/>
          </a:xfrm>
          <a:prstGeom prst="rect">
            <a:avLst/>
          </a:prstGeom>
          <a:noFill/>
        </p:spPr>
        <p:txBody>
          <a:bodyPr wrap="square">
            <a:spAutoFit/>
          </a:bodyPr>
          <a:lstStyle/>
          <a:p>
            <a:r>
              <a:rPr lang="en-US" altLang="zh-TW"/>
              <a:t>Codex</a:t>
            </a:r>
            <a:r>
              <a:rPr lang="zh-TW" altLang="en-US"/>
              <a:t> 就能生成出類似的系統</a:t>
            </a:r>
          </a:p>
        </p:txBody>
      </p:sp>
    </p:spTree>
    <p:extLst>
      <p:ext uri="{BB962C8B-B14F-4D97-AF65-F5344CB8AC3E}">
        <p14:creationId xmlns:p14="http://schemas.microsoft.com/office/powerpoint/2010/main" val="19402939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直線接點 2">
            <a:extLst>
              <a:ext uri="{FF2B5EF4-FFF2-40B4-BE49-F238E27FC236}">
                <a16:creationId xmlns:a16="http://schemas.microsoft.com/office/drawing/2014/main" id="{6C88067B-AE4C-9E5E-C5BE-0C365E2A8A41}"/>
              </a:ext>
            </a:extLst>
          </p:cNvPr>
          <p:cNvCxnSpPr>
            <a:cxnSpLocks/>
          </p:cNvCxnSpPr>
          <p:nvPr/>
        </p:nvCxnSpPr>
        <p:spPr>
          <a:xfrm>
            <a:off x="6502771" y="2196122"/>
            <a:ext cx="0" cy="4200525"/>
          </a:xfrm>
          <a:prstGeom prst="line">
            <a:avLst/>
          </a:prstGeom>
        </p:spPr>
        <p:style>
          <a:lnRef idx="2">
            <a:schemeClr val="accent1"/>
          </a:lnRef>
          <a:fillRef idx="0">
            <a:schemeClr val="accent1"/>
          </a:fillRef>
          <a:effectRef idx="1">
            <a:schemeClr val="accent1"/>
          </a:effectRef>
          <a:fontRef idx="minor">
            <a:schemeClr val="tx1"/>
          </a:fontRef>
        </p:style>
      </p:cxnSp>
      <p:sp>
        <p:nvSpPr>
          <p:cNvPr id="5" name="文字方塊 4">
            <a:extLst>
              <a:ext uri="{FF2B5EF4-FFF2-40B4-BE49-F238E27FC236}">
                <a16:creationId xmlns:a16="http://schemas.microsoft.com/office/drawing/2014/main" id="{9435CE7F-B1E7-33CC-D008-5C5FD9DF886E}"/>
              </a:ext>
            </a:extLst>
          </p:cNvPr>
          <p:cNvSpPr txBox="1"/>
          <p:nvPr/>
        </p:nvSpPr>
        <p:spPr>
          <a:xfrm>
            <a:off x="639295" y="759447"/>
            <a:ext cx="10971679" cy="369332"/>
          </a:xfrm>
          <a:prstGeom prst="rect">
            <a:avLst/>
          </a:prstGeom>
          <a:noFill/>
        </p:spPr>
        <p:txBody>
          <a:bodyPr wrap="square">
            <a:spAutoFit/>
          </a:bodyPr>
          <a:lstStyle/>
          <a:p>
            <a:r>
              <a:rPr lang="zh-TW" altLang="en-US"/>
              <a:t>本專案教的是 </a:t>
            </a:r>
            <a:r>
              <a:rPr lang="en-US" altLang="zh-TW"/>
              <a:t>Gemini CLI</a:t>
            </a:r>
            <a:r>
              <a:rPr lang="zh-TW" altLang="en-US"/>
              <a:t> 版本，實際商用時還是建議使用 </a:t>
            </a:r>
            <a:r>
              <a:rPr lang="en-US" altLang="zh-TW"/>
              <a:t>vibe coding </a:t>
            </a:r>
            <a:r>
              <a:rPr lang="zh-TW" altLang="en-US"/>
              <a:t>換成 </a:t>
            </a:r>
            <a:r>
              <a:rPr lang="en-US" altLang="zh-TW"/>
              <a:t>API </a:t>
            </a:r>
            <a:r>
              <a:rPr lang="zh-TW" altLang="en-US"/>
              <a:t>版本。</a:t>
            </a:r>
          </a:p>
        </p:txBody>
      </p:sp>
      <p:sp>
        <p:nvSpPr>
          <p:cNvPr id="7" name="文字方塊 6">
            <a:extLst>
              <a:ext uri="{FF2B5EF4-FFF2-40B4-BE49-F238E27FC236}">
                <a16:creationId xmlns:a16="http://schemas.microsoft.com/office/drawing/2014/main" id="{6784A9AE-E5FE-55FE-47BB-12FB0FF14352}"/>
              </a:ext>
            </a:extLst>
          </p:cNvPr>
          <p:cNvSpPr txBox="1"/>
          <p:nvPr/>
        </p:nvSpPr>
        <p:spPr>
          <a:xfrm>
            <a:off x="2707056" y="1722015"/>
            <a:ext cx="1781175" cy="369332"/>
          </a:xfrm>
          <a:prstGeom prst="rect">
            <a:avLst/>
          </a:prstGeom>
          <a:noFill/>
        </p:spPr>
        <p:txBody>
          <a:bodyPr wrap="square">
            <a:spAutoFit/>
          </a:bodyPr>
          <a:lstStyle/>
          <a:p>
            <a:r>
              <a:rPr lang="en-US" altLang="zh-TW"/>
              <a:t>Gemini CLI</a:t>
            </a:r>
            <a:r>
              <a:rPr lang="zh-TW" altLang="en-US"/>
              <a:t> 版本</a:t>
            </a:r>
          </a:p>
        </p:txBody>
      </p:sp>
      <p:sp>
        <p:nvSpPr>
          <p:cNvPr id="9" name="文字方塊 8">
            <a:extLst>
              <a:ext uri="{FF2B5EF4-FFF2-40B4-BE49-F238E27FC236}">
                <a16:creationId xmlns:a16="http://schemas.microsoft.com/office/drawing/2014/main" id="{43EF6713-5D19-9275-0B44-A46FCFF6D94F}"/>
              </a:ext>
            </a:extLst>
          </p:cNvPr>
          <p:cNvSpPr txBox="1"/>
          <p:nvPr/>
        </p:nvSpPr>
        <p:spPr>
          <a:xfrm>
            <a:off x="8912596" y="1722015"/>
            <a:ext cx="1152525" cy="369332"/>
          </a:xfrm>
          <a:prstGeom prst="rect">
            <a:avLst/>
          </a:prstGeom>
          <a:noFill/>
        </p:spPr>
        <p:txBody>
          <a:bodyPr wrap="square">
            <a:spAutoFit/>
          </a:bodyPr>
          <a:lstStyle/>
          <a:p>
            <a:r>
              <a:rPr lang="en-US" altLang="zh-TW"/>
              <a:t>API </a:t>
            </a:r>
            <a:r>
              <a:rPr lang="zh-TW" altLang="en-US"/>
              <a:t>版本</a:t>
            </a:r>
          </a:p>
        </p:txBody>
      </p:sp>
      <p:sp>
        <p:nvSpPr>
          <p:cNvPr id="10" name="文字方塊 9">
            <a:extLst>
              <a:ext uri="{FF2B5EF4-FFF2-40B4-BE49-F238E27FC236}">
                <a16:creationId xmlns:a16="http://schemas.microsoft.com/office/drawing/2014/main" id="{54AF655E-3273-C37F-E575-8498029470AF}"/>
              </a:ext>
            </a:extLst>
          </p:cNvPr>
          <p:cNvSpPr txBox="1"/>
          <p:nvPr/>
        </p:nvSpPr>
        <p:spPr>
          <a:xfrm>
            <a:off x="2340341" y="2793511"/>
            <a:ext cx="2514603" cy="369332"/>
          </a:xfrm>
          <a:prstGeom prst="rect">
            <a:avLst/>
          </a:prstGeom>
          <a:noFill/>
        </p:spPr>
        <p:txBody>
          <a:bodyPr wrap="square">
            <a:spAutoFit/>
          </a:bodyPr>
          <a:lstStyle/>
          <a:p>
            <a:r>
              <a:rPr lang="zh-TW" altLang="en-US"/>
              <a:t>建議個人實驗與調試用</a:t>
            </a:r>
          </a:p>
        </p:txBody>
      </p:sp>
      <p:sp>
        <p:nvSpPr>
          <p:cNvPr id="11" name="文字方塊 10">
            <a:extLst>
              <a:ext uri="{FF2B5EF4-FFF2-40B4-BE49-F238E27FC236}">
                <a16:creationId xmlns:a16="http://schemas.microsoft.com/office/drawing/2014/main" id="{5E4C837B-98E1-48E6-7454-A49EF36DF0BB}"/>
              </a:ext>
            </a:extLst>
          </p:cNvPr>
          <p:cNvSpPr txBox="1"/>
          <p:nvPr/>
        </p:nvSpPr>
        <p:spPr>
          <a:xfrm>
            <a:off x="9112624" y="2793511"/>
            <a:ext cx="714375" cy="369332"/>
          </a:xfrm>
          <a:prstGeom prst="rect">
            <a:avLst/>
          </a:prstGeom>
          <a:noFill/>
        </p:spPr>
        <p:txBody>
          <a:bodyPr wrap="square">
            <a:spAutoFit/>
          </a:bodyPr>
          <a:lstStyle/>
          <a:p>
            <a:r>
              <a:rPr lang="zh-TW" altLang="en-US"/>
              <a:t>商用</a:t>
            </a:r>
          </a:p>
        </p:txBody>
      </p:sp>
      <p:sp>
        <p:nvSpPr>
          <p:cNvPr id="12" name="文字方塊 11">
            <a:extLst>
              <a:ext uri="{FF2B5EF4-FFF2-40B4-BE49-F238E27FC236}">
                <a16:creationId xmlns:a16="http://schemas.microsoft.com/office/drawing/2014/main" id="{4E67E2E5-3D83-7C7F-BC71-0E07259EE165}"/>
              </a:ext>
            </a:extLst>
          </p:cNvPr>
          <p:cNvSpPr txBox="1"/>
          <p:nvPr/>
        </p:nvSpPr>
        <p:spPr>
          <a:xfrm>
            <a:off x="1804563" y="3666663"/>
            <a:ext cx="4446633" cy="369332"/>
          </a:xfrm>
          <a:prstGeom prst="rect">
            <a:avLst/>
          </a:prstGeom>
          <a:noFill/>
        </p:spPr>
        <p:txBody>
          <a:bodyPr wrap="square">
            <a:spAutoFit/>
          </a:bodyPr>
          <a:lstStyle/>
          <a:p>
            <a:r>
              <a:rPr lang="zh-TW" altLang="en-US"/>
              <a:t>不適合太高併發，且違反 </a:t>
            </a:r>
            <a:r>
              <a:rPr lang="en-US" altLang="zh-TW"/>
              <a:t>Google</a:t>
            </a:r>
            <a:r>
              <a:rPr lang="zh-TW" altLang="en-US"/>
              <a:t> 商用政策</a:t>
            </a:r>
          </a:p>
        </p:txBody>
      </p:sp>
      <p:sp>
        <p:nvSpPr>
          <p:cNvPr id="14" name="文字方塊 13">
            <a:extLst>
              <a:ext uri="{FF2B5EF4-FFF2-40B4-BE49-F238E27FC236}">
                <a16:creationId xmlns:a16="http://schemas.microsoft.com/office/drawing/2014/main" id="{3887765E-A2CE-C061-7AB3-ADE6308EDAE6}"/>
              </a:ext>
            </a:extLst>
          </p:cNvPr>
          <p:cNvSpPr txBox="1"/>
          <p:nvPr/>
        </p:nvSpPr>
        <p:spPr>
          <a:xfrm>
            <a:off x="8553028" y="3666663"/>
            <a:ext cx="1900236" cy="369332"/>
          </a:xfrm>
          <a:prstGeom prst="rect">
            <a:avLst/>
          </a:prstGeom>
          <a:noFill/>
        </p:spPr>
        <p:txBody>
          <a:bodyPr wrap="square">
            <a:spAutoFit/>
          </a:bodyPr>
          <a:lstStyle/>
          <a:p>
            <a:r>
              <a:rPr lang="zh-TW" altLang="en-US"/>
              <a:t>適合商用高併發</a:t>
            </a:r>
          </a:p>
        </p:txBody>
      </p:sp>
      <p:sp>
        <p:nvSpPr>
          <p:cNvPr id="16" name="文字方塊 15">
            <a:extLst>
              <a:ext uri="{FF2B5EF4-FFF2-40B4-BE49-F238E27FC236}">
                <a16:creationId xmlns:a16="http://schemas.microsoft.com/office/drawing/2014/main" id="{7CB5166C-513F-647D-4D0C-148A5D447147}"/>
              </a:ext>
            </a:extLst>
          </p:cNvPr>
          <p:cNvSpPr txBox="1"/>
          <p:nvPr/>
        </p:nvSpPr>
        <p:spPr>
          <a:xfrm>
            <a:off x="3235691" y="4591870"/>
            <a:ext cx="695326" cy="369332"/>
          </a:xfrm>
          <a:prstGeom prst="rect">
            <a:avLst/>
          </a:prstGeom>
          <a:noFill/>
        </p:spPr>
        <p:txBody>
          <a:bodyPr wrap="square">
            <a:spAutoFit/>
          </a:bodyPr>
          <a:lstStyle/>
          <a:p>
            <a:r>
              <a:rPr lang="zh-TW" altLang="en-US"/>
              <a:t>免費</a:t>
            </a:r>
          </a:p>
        </p:txBody>
      </p:sp>
      <p:sp>
        <p:nvSpPr>
          <p:cNvPr id="17" name="文字方塊 16">
            <a:extLst>
              <a:ext uri="{FF2B5EF4-FFF2-40B4-BE49-F238E27FC236}">
                <a16:creationId xmlns:a16="http://schemas.microsoft.com/office/drawing/2014/main" id="{8FE82EFA-FC09-FBA5-A03B-DD0C37EE5310}"/>
              </a:ext>
            </a:extLst>
          </p:cNvPr>
          <p:cNvSpPr txBox="1"/>
          <p:nvPr/>
        </p:nvSpPr>
        <p:spPr>
          <a:xfrm>
            <a:off x="9265022" y="4594013"/>
            <a:ext cx="409576" cy="369332"/>
          </a:xfrm>
          <a:prstGeom prst="rect">
            <a:avLst/>
          </a:prstGeom>
          <a:noFill/>
        </p:spPr>
        <p:txBody>
          <a:bodyPr wrap="square">
            <a:spAutoFit/>
          </a:bodyPr>
          <a:lstStyle/>
          <a:p>
            <a:r>
              <a:rPr lang="zh-TW" altLang="en-US"/>
              <a:t>貴</a:t>
            </a:r>
          </a:p>
        </p:txBody>
      </p:sp>
      <p:sp>
        <p:nvSpPr>
          <p:cNvPr id="18" name="文字方塊 17">
            <a:extLst>
              <a:ext uri="{FF2B5EF4-FFF2-40B4-BE49-F238E27FC236}">
                <a16:creationId xmlns:a16="http://schemas.microsoft.com/office/drawing/2014/main" id="{29D0906E-29B6-5D04-F417-18F01E02BCE8}"/>
              </a:ext>
            </a:extLst>
          </p:cNvPr>
          <p:cNvSpPr txBox="1"/>
          <p:nvPr/>
        </p:nvSpPr>
        <p:spPr>
          <a:xfrm>
            <a:off x="2053783" y="5517077"/>
            <a:ext cx="3059142" cy="369332"/>
          </a:xfrm>
          <a:prstGeom prst="rect">
            <a:avLst/>
          </a:prstGeom>
          <a:noFill/>
        </p:spPr>
        <p:txBody>
          <a:bodyPr wrap="square">
            <a:spAutoFit/>
          </a:bodyPr>
          <a:lstStyle/>
          <a:p>
            <a:r>
              <a:rPr lang="zh-TW" altLang="en-US"/>
              <a:t>模型效能看 </a:t>
            </a:r>
            <a:r>
              <a:rPr lang="en-US" altLang="zh-TW"/>
              <a:t>Gemini </a:t>
            </a:r>
            <a:r>
              <a:rPr lang="zh-TW" altLang="en-US"/>
              <a:t>訂閱層級</a:t>
            </a:r>
          </a:p>
        </p:txBody>
      </p:sp>
      <p:sp>
        <p:nvSpPr>
          <p:cNvPr id="19" name="文字方塊 18">
            <a:extLst>
              <a:ext uri="{FF2B5EF4-FFF2-40B4-BE49-F238E27FC236}">
                <a16:creationId xmlns:a16="http://schemas.microsoft.com/office/drawing/2014/main" id="{235C9564-FF2C-6A6E-8A65-860080539D0F}"/>
              </a:ext>
            </a:extLst>
          </p:cNvPr>
          <p:cNvSpPr txBox="1"/>
          <p:nvPr/>
        </p:nvSpPr>
        <p:spPr>
          <a:xfrm>
            <a:off x="8347259" y="5517077"/>
            <a:ext cx="2311773" cy="369332"/>
          </a:xfrm>
          <a:prstGeom prst="rect">
            <a:avLst/>
          </a:prstGeom>
          <a:noFill/>
        </p:spPr>
        <p:txBody>
          <a:bodyPr wrap="square">
            <a:spAutoFit/>
          </a:bodyPr>
          <a:lstStyle/>
          <a:p>
            <a:r>
              <a:rPr lang="zh-TW" altLang="en-US"/>
              <a:t>模型效能可自由選擇</a:t>
            </a:r>
          </a:p>
        </p:txBody>
      </p:sp>
      <p:sp>
        <p:nvSpPr>
          <p:cNvPr id="4" name="文字方塊 3">
            <a:extLst>
              <a:ext uri="{FF2B5EF4-FFF2-40B4-BE49-F238E27FC236}">
                <a16:creationId xmlns:a16="http://schemas.microsoft.com/office/drawing/2014/main" id="{35C77048-2570-32C7-CCDC-58EAAA715B23}"/>
              </a:ext>
            </a:extLst>
          </p:cNvPr>
          <p:cNvSpPr txBox="1"/>
          <p:nvPr/>
        </p:nvSpPr>
        <p:spPr>
          <a:xfrm>
            <a:off x="764116" y="4604554"/>
            <a:ext cx="699245" cy="369332"/>
          </a:xfrm>
          <a:prstGeom prst="rect">
            <a:avLst/>
          </a:prstGeom>
          <a:noFill/>
        </p:spPr>
        <p:txBody>
          <a:bodyPr wrap="square">
            <a:spAutoFit/>
          </a:bodyPr>
          <a:lstStyle/>
          <a:p>
            <a:r>
              <a:rPr lang="zh-TW" altLang="en-US"/>
              <a:t>價格</a:t>
            </a:r>
          </a:p>
        </p:txBody>
      </p:sp>
      <p:cxnSp>
        <p:nvCxnSpPr>
          <p:cNvPr id="6" name="直線接點 5">
            <a:extLst>
              <a:ext uri="{FF2B5EF4-FFF2-40B4-BE49-F238E27FC236}">
                <a16:creationId xmlns:a16="http://schemas.microsoft.com/office/drawing/2014/main" id="{94EE1C6E-32C2-D7EE-9673-97947BAE2612}"/>
              </a:ext>
            </a:extLst>
          </p:cNvPr>
          <p:cNvCxnSpPr>
            <a:cxnSpLocks/>
          </p:cNvCxnSpPr>
          <p:nvPr/>
        </p:nvCxnSpPr>
        <p:spPr>
          <a:xfrm>
            <a:off x="1572182" y="2138839"/>
            <a:ext cx="0" cy="4200525"/>
          </a:xfrm>
          <a:prstGeom prst="line">
            <a:avLst/>
          </a:prstGeom>
        </p:spPr>
        <p:style>
          <a:lnRef idx="2">
            <a:schemeClr val="accent1"/>
          </a:lnRef>
          <a:fillRef idx="0">
            <a:schemeClr val="accent1"/>
          </a:fillRef>
          <a:effectRef idx="1">
            <a:schemeClr val="accent1"/>
          </a:effectRef>
          <a:fontRef idx="minor">
            <a:schemeClr val="tx1"/>
          </a:fontRef>
        </p:style>
      </p:cxnSp>
      <p:sp>
        <p:nvSpPr>
          <p:cNvPr id="8" name="文字方塊 7">
            <a:extLst>
              <a:ext uri="{FF2B5EF4-FFF2-40B4-BE49-F238E27FC236}">
                <a16:creationId xmlns:a16="http://schemas.microsoft.com/office/drawing/2014/main" id="{371FC551-C17B-B28D-BFB7-602624EA9D4A}"/>
              </a:ext>
            </a:extLst>
          </p:cNvPr>
          <p:cNvSpPr txBox="1"/>
          <p:nvPr/>
        </p:nvSpPr>
        <p:spPr>
          <a:xfrm>
            <a:off x="764115" y="5517077"/>
            <a:ext cx="699245" cy="369332"/>
          </a:xfrm>
          <a:prstGeom prst="rect">
            <a:avLst/>
          </a:prstGeom>
          <a:noFill/>
        </p:spPr>
        <p:txBody>
          <a:bodyPr wrap="square">
            <a:spAutoFit/>
          </a:bodyPr>
          <a:lstStyle/>
          <a:p>
            <a:r>
              <a:rPr lang="zh-TW" altLang="en-US"/>
              <a:t>效能</a:t>
            </a:r>
          </a:p>
        </p:txBody>
      </p:sp>
      <p:sp>
        <p:nvSpPr>
          <p:cNvPr id="13" name="文字方塊 12">
            <a:extLst>
              <a:ext uri="{FF2B5EF4-FFF2-40B4-BE49-F238E27FC236}">
                <a16:creationId xmlns:a16="http://schemas.microsoft.com/office/drawing/2014/main" id="{A25DB725-A06E-AEB6-85F0-1498D49EE597}"/>
              </a:ext>
            </a:extLst>
          </p:cNvPr>
          <p:cNvSpPr txBox="1"/>
          <p:nvPr/>
        </p:nvSpPr>
        <p:spPr>
          <a:xfrm>
            <a:off x="639295" y="3666663"/>
            <a:ext cx="904520" cy="369332"/>
          </a:xfrm>
          <a:prstGeom prst="rect">
            <a:avLst/>
          </a:prstGeom>
          <a:noFill/>
        </p:spPr>
        <p:txBody>
          <a:bodyPr wrap="square">
            <a:spAutoFit/>
          </a:bodyPr>
          <a:lstStyle/>
          <a:p>
            <a:r>
              <a:rPr lang="zh-TW" altLang="en-US"/>
              <a:t>承載量</a:t>
            </a:r>
          </a:p>
        </p:txBody>
      </p:sp>
      <p:sp>
        <p:nvSpPr>
          <p:cNvPr id="15" name="文字方塊 14">
            <a:extLst>
              <a:ext uri="{FF2B5EF4-FFF2-40B4-BE49-F238E27FC236}">
                <a16:creationId xmlns:a16="http://schemas.microsoft.com/office/drawing/2014/main" id="{FAC6062B-62EE-4288-D786-C2271E19790C}"/>
              </a:ext>
            </a:extLst>
          </p:cNvPr>
          <p:cNvSpPr txBox="1"/>
          <p:nvPr/>
        </p:nvSpPr>
        <p:spPr>
          <a:xfrm>
            <a:off x="748265" y="2790829"/>
            <a:ext cx="699245" cy="369332"/>
          </a:xfrm>
          <a:prstGeom prst="rect">
            <a:avLst/>
          </a:prstGeom>
          <a:noFill/>
        </p:spPr>
        <p:txBody>
          <a:bodyPr wrap="square">
            <a:spAutoFit/>
          </a:bodyPr>
          <a:lstStyle/>
          <a:p>
            <a:r>
              <a:rPr lang="zh-TW" altLang="en-US"/>
              <a:t>用途</a:t>
            </a:r>
          </a:p>
        </p:txBody>
      </p:sp>
    </p:spTree>
    <p:extLst>
      <p:ext uri="{BB962C8B-B14F-4D97-AF65-F5344CB8AC3E}">
        <p14:creationId xmlns:p14="http://schemas.microsoft.com/office/powerpoint/2010/main" val="2351250071"/>
      </p:ext>
    </p:extLst>
  </p:cSld>
  <p:clrMapOvr>
    <a:masterClrMapping/>
  </p:clrMapOvr>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375</TotalTime>
  <Words>748</Words>
  <Application>Microsoft Office PowerPoint</Application>
  <PresentationFormat>寬螢幕</PresentationFormat>
  <Paragraphs>105</Paragraphs>
  <Slides>16</Slides>
  <Notes>0</Notes>
  <HiddenSlides>0</HiddenSlides>
  <MMClips>0</MMClips>
  <ScaleCrop>false</ScaleCrop>
  <HeadingPairs>
    <vt:vector size="6" baseType="variant">
      <vt:variant>
        <vt:lpstr>使用字型</vt:lpstr>
      </vt:variant>
      <vt:variant>
        <vt:i4>5</vt:i4>
      </vt:variant>
      <vt:variant>
        <vt:lpstr>佈景主題</vt:lpstr>
      </vt:variant>
      <vt:variant>
        <vt:i4>1</vt:i4>
      </vt:variant>
      <vt:variant>
        <vt:lpstr>投影片標題</vt:lpstr>
      </vt:variant>
      <vt:variant>
        <vt:i4>16</vt:i4>
      </vt:variant>
    </vt:vector>
  </HeadingPairs>
  <TitlesOfParts>
    <vt:vector size="22" baseType="lpstr">
      <vt:lpstr>Mona Sans VF</vt:lpstr>
      <vt:lpstr>微軟正黑體</vt:lpstr>
      <vt:lpstr>Aptos</vt:lpstr>
      <vt:lpstr>Aptos Display</vt:lpstr>
      <vt:lpstr>Arial</vt:lpstr>
      <vt:lpstr>Office 佈景主題</vt:lpstr>
      <vt:lpstr>智慧點餐系統</vt:lpstr>
      <vt:lpstr>系統架構</vt:lpstr>
      <vt:lpstr>Gemini 的加入優化傳統點餐系統上的哪些痛點?</vt:lpstr>
      <vt:lpstr>事前需求</vt:lpstr>
      <vt:lpstr>第一階段  先玩看看智慧點餐系統</vt:lpstr>
      <vt:lpstr>PowerPoint 簡報</vt:lpstr>
      <vt:lpstr>PowerPoint 簡報</vt:lpstr>
      <vt:lpstr>PowerPoint 簡報</vt:lpstr>
      <vt:lpstr>PowerPoint 簡報</vt:lpstr>
      <vt:lpstr>PowerPoint 簡報</vt:lpstr>
      <vt:lpstr>PowerPoint 簡報</vt:lpstr>
      <vt:lpstr>PowerPoint 簡報</vt:lpstr>
      <vt:lpstr>PowerPoint 簡報</vt:lpstr>
      <vt:lpstr>第二階段 怎麼 Vibe Coding 出智慧點餐系統</vt:lpstr>
      <vt:lpstr>PowerPoint 簡報</vt:lpstr>
      <vt:lpstr>PowerPoint 簡報</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智慧點餐系統</dc:title>
  <dc:creator>Zenx Alen</dc:creator>
  <cp:lastModifiedBy>Zenx Alen</cp:lastModifiedBy>
  <cp:revision>196</cp:revision>
  <dcterms:created xsi:type="dcterms:W3CDTF">2026-04-13T06:12:31Z</dcterms:created>
  <dcterms:modified xsi:type="dcterms:W3CDTF">2026-04-13T16:24:38Z</dcterms:modified>
</cp:coreProperties>
</file>